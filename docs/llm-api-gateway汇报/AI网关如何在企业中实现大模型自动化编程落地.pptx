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80,&#10;    display: 'flex',&#10;    flexDirection: 'column',&#10;    justifyContent: 'space-between',&#10;  }}&gt;&#10;    &lt;Box style={{ display: 'flex', flexDirection: 'column', gap: 24 }}&gt;&#10;      &lt;Text style={{&#10;        fontSize: 16,&#10;        color: '#0EA5E9',&#10;        fontWeight: 'bold',&#10;        letterSpacing: 2,&#10;      }}&gt;&#10;        企业自建 AI · 内部技术方案汇报&#10;      &lt;/Text&gt;&#10;      &lt;Text style={{&#10;        fontSize: 60,&#10;        fontWeight: 'bold',&#10;        color: '#1F3A8A',&#10;        lineHeight: 1.2,&#10;        maxWidth: 1100,&#10;      }}&gt;&#10;        AI 网关如何在企业中实现&lt;br /&gt;大模型自动化编程落地&#10;      &lt;/Text&gt;&#10;      &lt;Text style={{&#10;        fontSize: 24,&#10;        color: '#475569',&#10;        lineHeight: 1.5,&#10;        marginTop: 24,&#10;      }}&gt;&#10;        统一接入 · 按人授权 · 全量审计 —— llm-proxy-tk&#10;      &lt;/Text&gt;&#10;    &lt;/Box&gt;&#10;&#10;    &lt;Box style={{&#10;      display: 'flex',&#10;      flexDirection: 'row',&#10;      justifyContent: 'space-between',&#10;      alignItems: 'center',&#10;      borderTop: '2px solid #E2E8F0',&#10;      paddingTop: 24,&#10;    }}&gt;&#10;      &lt;Box style={{ display: 'flex', flexDirection: 'column', gap: 6 }}&gt;&#10;        &lt;Text style={{ fontSize: 14, color: '#94A3B8' }}&gt;汇报日期：2026-09-04&lt;/Text&gt;&#10;        &lt;Text style={{ fontSize: 14, color: '#94A3B8' }}&gt;汇报对象：管理层 + 技术团队&lt;/Text&gt;&#10;      &lt;/Box&gt;&#10;      &lt;Text style={{ fontSize: 14, color: '#0EA5E9' }}&gt;&#10;        github.com/boonya-hrgk/llm-proxy-tk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762000" y="762000"/>
            <a:ext cx="10668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0EA5E9"/>
                </a:solidFill>
                <a:latin typeface="Microsoft YaHei"/>
                <a:ea typeface="Microsoft YaHei"/>
              </a:rPr>
              <a:t>企业自建</a:t>
            </a:r>
            <a:r>
              <a:rPr lang="en-US" sz="1200" b="1" spc="150">
                <a:solidFill>
                  <a:srgbClr val="0EA5E9"/>
                </a:solidFill>
                <a:latin typeface="Microsoft YaHei"/>
                <a:ea typeface="Microsoft YaHei"/>
              </a:rPr>
              <a:t> AI · </a:t>
            </a:r>
            <a:r>
              <a:rPr lang="zh-CN" sz="1200" b="1" spc="150">
                <a:solidFill>
                  <a:srgbClr val="0EA5E9"/>
                </a:solidFill>
                <a:latin typeface="Microsoft YaHei"/>
                <a:ea typeface="Microsoft YaHei"/>
              </a:rPr>
              <a:t>内部技术方案汇报</a:t>
            </a:r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762000" y="1181100"/>
            <a:ext cx="10477500" cy="1647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4500" b="1" dirty="0">
                <a:solidFill>
                  <a:srgbClr val="1F3A8A"/>
                </a:solidFill>
                <a:latin typeface="Microsoft YaHei"/>
                <a:ea typeface="Microsoft YaHei"/>
              </a:rPr>
              <a:t>AI </a:t>
            </a:r>
            <a:r>
              <a:rPr lang="zh-CN" sz="4500" b="1" dirty="0">
                <a:solidFill>
                  <a:srgbClr val="1F3A8A"/>
                </a:solidFill>
                <a:latin typeface="Microsoft YaHei"/>
                <a:ea typeface="Microsoft YaHei"/>
              </a:rPr>
              <a:t>网关如何在企业中实现</a:t>
            </a:r>
            <a:endParaRPr dirty="0"/>
          </a:p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1F3A8A"/>
                </a:solidFill>
                <a:latin typeface="Microsoft YaHei"/>
                <a:ea typeface="Microsoft YaHei"/>
              </a:rPr>
              <a:t>大模型自动化编程落地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762000" y="3286125"/>
            <a:ext cx="106680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800" dirty="0">
                <a:solidFill>
                  <a:srgbClr val="475569"/>
                </a:solidFill>
                <a:latin typeface="Microsoft YaHei"/>
                <a:ea typeface="Microsoft YaHei"/>
              </a:rPr>
              <a:t>统一接入</a:t>
            </a:r>
            <a:r>
              <a:rPr lang="en-US" sz="180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800" dirty="0">
                <a:solidFill>
                  <a:srgbClr val="475569"/>
                </a:solidFill>
                <a:latin typeface="Microsoft YaHei"/>
                <a:ea typeface="Microsoft YaHei"/>
              </a:rPr>
              <a:t>按人授权</a:t>
            </a:r>
            <a:r>
              <a:rPr lang="en-US" sz="1800" dirty="0">
                <a:solidFill>
                  <a:srgbClr val="475569"/>
                </a:solidFill>
                <a:latin typeface="Microsoft YaHei"/>
                <a:ea typeface="Microsoft YaHei"/>
              </a:rPr>
              <a:t> · </a:t>
            </a:r>
            <a:r>
              <a:rPr lang="zh-CN" sz="1800" dirty="0">
                <a:solidFill>
                  <a:srgbClr val="475569"/>
                </a:solidFill>
                <a:latin typeface="Microsoft YaHei"/>
                <a:ea typeface="Microsoft YaHei"/>
              </a:rPr>
              <a:t>全量审计</a:t>
            </a:r>
            <a:r>
              <a:rPr lang="en-US" sz="1800" dirty="0">
                <a:solidFill>
                  <a:srgbClr val="475569"/>
                </a:solidFill>
                <a:latin typeface="Microsoft YaHei"/>
                <a:ea typeface="Microsoft YaHei"/>
              </a:rPr>
              <a:t> —— </a:t>
            </a:r>
            <a:r>
              <a:rPr lang="en-US" altLang="zh-CN" dirty="0" err="1">
                <a:solidFill>
                  <a:srgbClr val="475569"/>
                </a:solidFill>
                <a:latin typeface="Microsoft YaHei"/>
                <a:ea typeface="Microsoft YaHei"/>
              </a:rPr>
              <a:t>llm</a:t>
            </a:r>
            <a:r>
              <a:rPr lang="en-US" altLang="zh-CN" dirty="0">
                <a:solidFill>
                  <a:srgbClr val="475569"/>
                </a:solidFill>
                <a:latin typeface="Microsoft YaHei"/>
                <a:ea typeface="Microsoft YaHei"/>
              </a:rPr>
              <a:t>-</a:t>
            </a:r>
            <a:r>
              <a:rPr lang="en-US" altLang="zh-CN" dirty="0" err="1">
                <a:solidFill>
                  <a:srgbClr val="475569"/>
                </a:solidFill>
                <a:latin typeface="Microsoft YaHei"/>
                <a:ea typeface="Microsoft YaHei"/>
              </a:rPr>
              <a:t>api</a:t>
            </a:r>
            <a:r>
              <a:rPr lang="en-US" altLang="zh-CN" dirty="0">
                <a:solidFill>
                  <a:srgbClr val="475569"/>
                </a:solidFill>
                <a:latin typeface="Microsoft YaHei"/>
                <a:ea typeface="Microsoft YaHei"/>
              </a:rPr>
              <a:t>-gateway</a:t>
            </a:r>
            <a:endParaRPr dirty="0"/>
          </a:p>
        </p:txBody>
      </p:sp>
      <p:sp>
        <p:nvSpPr>
          <p:cNvPr id="6" name="任意多边形: 形状 5"/>
          <p:cNvSpPr/>
          <p:nvPr/>
        </p:nvSpPr>
        <p:spPr>
          <a:xfrm>
            <a:off x="762000" y="5467350"/>
            <a:ext cx="10668000" cy="647700"/>
          </a:xfrm>
          <a:custGeom>
            <a:avLst/>
            <a:gdLst/>
            <a:ahLst/>
            <a:cxnLst/>
            <a:rect l="0" t="0" r="0" b="0"/>
            <a:pathLst>
              <a:path w="1120" h="68">
                <a:moveTo>
                  <a:pt x="0" y="0"/>
                </a:moveTo>
                <a:lnTo>
                  <a:pt x="1120" y="0"/>
                </a:lnTo>
                <a:lnTo>
                  <a:pt x="1120" y="2"/>
                </a:lnTo>
                <a:lnTo>
                  <a:pt x="0" y="2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762000" y="5715000"/>
            <a:ext cx="1781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汇报日期：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2026-09-04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5934075"/>
            <a:ext cx="1781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汇报对象：管理层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技术团队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8963025" y="5829300"/>
            <a:ext cx="2466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0EA5E9"/>
                </a:solidFill>
                <a:latin typeface="Microsoft YaHei"/>
                <a:ea typeface="Microsoft YaHei"/>
              </a:rPr>
              <a:t>github.com/boonya-</a:t>
            </a:r>
            <a:r>
              <a:rPr lang="en-US" sz="1050" dirty="0" err="1">
                <a:solidFill>
                  <a:srgbClr val="0EA5E9"/>
                </a:solidFill>
                <a:latin typeface="Microsoft YaHei"/>
                <a:ea typeface="Microsoft YaHei"/>
              </a:rPr>
              <a:t>hrgk</a:t>
            </a:r>
            <a:r>
              <a:rPr lang="en-US" sz="1050" dirty="0">
                <a:solidFill>
                  <a:srgbClr val="0EA5E9"/>
                </a:solidFill>
                <a:latin typeface="Microsoft YaHei"/>
                <a:ea typeface="Microsoft YaHei"/>
              </a:rPr>
              <a:t>/</a:t>
            </a:r>
            <a:r>
              <a:rPr lang="en-US" sz="1050" dirty="0" err="1">
                <a:solidFill>
                  <a:srgbClr val="0EA5E9"/>
                </a:solidFill>
                <a:latin typeface="Microsoft YaHei"/>
                <a:ea typeface="Microsoft YaHei"/>
              </a:rPr>
              <a:t>llm</a:t>
            </a:r>
            <a:r>
              <a:rPr lang="en-US" sz="1050" dirty="0">
                <a:solidFill>
                  <a:srgbClr val="0EA5E9"/>
                </a:solidFill>
                <a:latin typeface="Microsoft YaHei"/>
                <a:ea typeface="Microsoft YaHei"/>
              </a:rPr>
              <a:t>-</a:t>
            </a:r>
            <a:r>
              <a:rPr lang="en-US" altLang="zh-CN" sz="1050" dirty="0" err="1">
                <a:solidFill>
                  <a:srgbClr val="0EA5E9"/>
                </a:solidFill>
                <a:latin typeface="Microsoft YaHei"/>
                <a:ea typeface="Microsoft YaHei"/>
              </a:rPr>
              <a:t>api</a:t>
            </a:r>
            <a:r>
              <a:rPr lang="en-US" altLang="zh-CN" sz="1050" dirty="0">
                <a:solidFill>
                  <a:srgbClr val="0EA5E9"/>
                </a:solidFill>
                <a:latin typeface="Microsoft YaHei"/>
                <a:ea typeface="Microsoft YaHei"/>
              </a:rPr>
              <a:t>-gateway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column',&#10;  }}&gt;&#10;    &lt;Text style={{&#10;      fontSize: 32,&#10;      fontWeight: 'bold',&#10;      color: '#1F3A8A',&#10;      marginBottom: 4,&#10;    }}&gt;&#10;      目录&#10;    &lt;/Text&gt;&#10;    &lt;Text style={{&#10;      fontSize: 14,&#10;      color: '#94A3B8',&#10;      marginBottom: 24,&#10;      letterSpacing: 2,&#10;    }}&gt;&#10;      CONTENTS&#10;    &lt;/Text&gt;&#10;&#10;    &lt;Box style={{&#10;      display: 'flex',&#10;      flexDirection: 'column',&#10;      gap: 12,&#10;    }}&gt;&#10;      {[&#10;        { num: '01', title: '背景：为什么需要&quot;总闸门&quot;', desc: '企业用大模型的三个扎心现状' },&#10;        { num: '02', title: '定位：自用网关，不卖算力', desc: '明确边界与项目价值定位' },&#10;        { num: '03', title: '项目与架构：llm-proxy-tk 一览', desc: '是什么、长什么样、能干什么' },&#10;        { num: '04', title: '企业 AI 应用场景', desc: '内网-自有大模型 vs 外网-云端大模型' },&#10;        { num: '05', title: '企业 AI 应用落地', desc: '5 个关键抓手，让网关从&quot;装上&quot;到&quot;用顺&quot;' },&#10;        { num: '06', title: '边界与展望', desc: '诚实的边界 = 可信的产品' },&#10;      ].map((item, idx) =&gt; (&#10;        &lt;Box key={idx} style={{&#10;          display: 'flex',&#10;          flexDirection: 'row',&#10;          alignItems: 'center',&#10;          padding: '8px 16px',&#10;          backgroundColor: '#F8FAFC',&#10;          borderRadius: 8,&#10;        }}&gt;&#10;          &lt;Text style={{&#10;            fontSize: 24,&#10;            fontWeight: 'bold',&#10;            color: '#0EA5E9',&#10;            width: 70,&#10;          }}&gt;&#10;            {item.num}&#10;          &lt;/Text&gt;&#10;          &lt;Box style={{ flex: 1 }}&gt;&#10;            &lt;Text style={{&#10;              fontSize: 19,&#10;              fontWeight: 'bold',&#10;              color: '#1F3A8A',&#10;              marginBottom: 2,&#10;            }}&gt;&#10;              {item.title}&#10;            &lt;/Text&gt;&#10;            &lt;Text style={{ fontSize: 13, color: '#64748B' }}&gt;&#10;              {item.desc}&#10;            &lt;/Text&gt;&#10;          &lt;/Box&gt;&#10;        &lt;/Box&gt;&#10;      ))}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矩形 2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476250" y="476250"/>
            <a:ext cx="11239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8A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476250" y="885825"/>
            <a:ext cx="11239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267" name="矩形: 圆角 266"/>
          <p:cNvSpPr/>
          <p:nvPr/>
        </p:nvSpPr>
        <p:spPr>
          <a:xfrm>
            <a:off x="476250" y="1276350"/>
            <a:ext cx="112395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28650" y="1409700"/>
            <a:ext cx="666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295400" y="1352550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背景：为什么需要</a:t>
            </a:r>
            <a:r>
              <a:rPr lang="en-US" sz="1425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总闸门</a:t>
            </a:r>
            <a:r>
              <a:rPr lang="en-US" sz="1425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1295400" y="1590675"/>
            <a:ext cx="10267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企业用大模型的三个扎心现状</a:t>
            </a:r>
            <a:endParaRPr/>
          </a:p>
        </p:txBody>
      </p:sp>
      <p:sp>
        <p:nvSpPr>
          <p:cNvPr id="271" name="矩形: 圆角 270"/>
          <p:cNvSpPr/>
          <p:nvPr/>
        </p:nvSpPr>
        <p:spPr>
          <a:xfrm>
            <a:off x="476250" y="1933575"/>
            <a:ext cx="112395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28650" y="2066925"/>
            <a:ext cx="666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1295400" y="2009775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定位：自用网关，不卖算力</a:t>
            </a:r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295400" y="2247900"/>
            <a:ext cx="10267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明确边界与项目价值定位</a:t>
            </a:r>
            <a:endParaRPr/>
          </a:p>
        </p:txBody>
      </p:sp>
      <p:sp>
        <p:nvSpPr>
          <p:cNvPr id="275" name="矩形: 圆角 274"/>
          <p:cNvSpPr/>
          <p:nvPr/>
        </p:nvSpPr>
        <p:spPr>
          <a:xfrm>
            <a:off x="476250" y="2590800"/>
            <a:ext cx="112395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28650" y="2724150"/>
            <a:ext cx="666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1295400" y="2667000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 dirty="0">
                <a:solidFill>
                  <a:srgbClr val="1F3A8A"/>
                </a:solidFill>
                <a:latin typeface="Microsoft YaHei"/>
                <a:ea typeface="Microsoft YaHei"/>
              </a:rPr>
              <a:t>项目与架构：</a:t>
            </a:r>
            <a:r>
              <a:rPr lang="en-US" sz="1425" b="1" dirty="0" err="1">
                <a:solidFill>
                  <a:srgbClr val="1F3A8A"/>
                </a:solidFill>
                <a:latin typeface="Microsoft YaHei"/>
                <a:ea typeface="Microsoft YaHei"/>
              </a:rPr>
              <a:t>llm</a:t>
            </a:r>
            <a:r>
              <a:rPr lang="en-US" sz="1425" b="1" dirty="0">
                <a:solidFill>
                  <a:srgbClr val="1F3A8A"/>
                </a:solidFill>
                <a:latin typeface="Microsoft YaHei"/>
                <a:ea typeface="Microsoft YaHei"/>
              </a:rPr>
              <a:t>-</a:t>
            </a:r>
            <a:r>
              <a:rPr lang="en-US" sz="1425" b="1" dirty="0" err="1">
                <a:solidFill>
                  <a:srgbClr val="1F3A8A"/>
                </a:solidFill>
                <a:latin typeface="Microsoft YaHei"/>
                <a:ea typeface="Microsoft YaHei"/>
              </a:rPr>
              <a:t>api</a:t>
            </a:r>
            <a:r>
              <a:rPr lang="en-US" sz="1425" b="1" dirty="0">
                <a:solidFill>
                  <a:srgbClr val="1F3A8A"/>
                </a:solidFill>
                <a:latin typeface="Microsoft YaHei"/>
                <a:ea typeface="Microsoft YaHei"/>
              </a:rPr>
              <a:t>-gateway </a:t>
            </a:r>
            <a:r>
              <a:rPr lang="zh-CN" sz="1425" b="1" dirty="0">
                <a:solidFill>
                  <a:srgbClr val="1F3A8A"/>
                </a:solidFill>
                <a:latin typeface="Microsoft YaHei"/>
                <a:ea typeface="Microsoft YaHei"/>
              </a:rPr>
              <a:t>一览</a:t>
            </a:r>
            <a:endParaRPr dirty="0"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295400" y="2905125"/>
            <a:ext cx="10267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是什么、长什么样、能干什么</a:t>
            </a:r>
            <a:endParaRPr/>
          </a:p>
        </p:txBody>
      </p:sp>
      <p:sp>
        <p:nvSpPr>
          <p:cNvPr id="279" name="矩形: 圆角 278"/>
          <p:cNvSpPr/>
          <p:nvPr/>
        </p:nvSpPr>
        <p:spPr>
          <a:xfrm>
            <a:off x="476250" y="3248025"/>
            <a:ext cx="112395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628650" y="3381375"/>
            <a:ext cx="666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295400" y="3324225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企业</a:t>
            </a:r>
            <a:r>
              <a:rPr lang="en-US" sz="1425" b="1">
                <a:solidFill>
                  <a:srgbClr val="1F3A8A"/>
                </a:solidFill>
                <a:latin typeface="Microsoft YaHei"/>
                <a:ea typeface="Microsoft YaHei"/>
              </a:rPr>
              <a:t> AI </a:t>
            </a: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应用场景</a:t>
            </a:r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295400" y="3562350"/>
            <a:ext cx="10267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内网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自有大模型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vs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外网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云端大模型</a:t>
            </a:r>
            <a:endParaRPr/>
          </a:p>
        </p:txBody>
      </p:sp>
      <p:sp>
        <p:nvSpPr>
          <p:cNvPr id="283" name="矩形: 圆角 282"/>
          <p:cNvSpPr/>
          <p:nvPr/>
        </p:nvSpPr>
        <p:spPr>
          <a:xfrm>
            <a:off x="476250" y="3905250"/>
            <a:ext cx="112395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28650" y="4038600"/>
            <a:ext cx="666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1295400" y="3981450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企业</a:t>
            </a:r>
            <a:r>
              <a:rPr lang="en-US" sz="1425" b="1">
                <a:solidFill>
                  <a:srgbClr val="1F3A8A"/>
                </a:solidFill>
                <a:latin typeface="Microsoft YaHei"/>
                <a:ea typeface="Microsoft YaHei"/>
              </a:rPr>
              <a:t> AI </a:t>
            </a: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应用落地</a:t>
            </a:r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1295400" y="4219575"/>
            <a:ext cx="10267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5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个关键抓手，让网关从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装上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到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用顺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7" name="矩形: 圆角 286"/>
          <p:cNvSpPr/>
          <p:nvPr/>
        </p:nvSpPr>
        <p:spPr>
          <a:xfrm>
            <a:off x="476250" y="4562475"/>
            <a:ext cx="112395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628650" y="4695825"/>
            <a:ext cx="666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1295400" y="4638675"/>
            <a:ext cx="10267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3A8A"/>
                </a:solidFill>
                <a:latin typeface="Microsoft YaHei"/>
                <a:ea typeface="Microsoft YaHei"/>
              </a:rPr>
              <a:t>边界与展望</a:t>
            </a:r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1295400" y="4876800"/>
            <a:ext cx="10267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诚实的边界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可信的产品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60,&#10;    display: 'flex',&#10;    flexDirection: 'column',&#10;  }}&gt;&#10;    &lt;Text style={{&#10;      fontSize: 14,&#10;      color: '#0EA5E9',&#10;      letterSpacing: 2,&#10;      marginBottom: 8,&#10;    }}&gt;&#10;      01 背景&#10;    &lt;/Text&gt;&#10;    &lt;Text style={{&#10;      fontSize: 40,&#10;      fontWeight: 'bold',&#10;      color: '#1F3A8A',&#10;      marginBottom: 8,&#10;    }}&gt;&#10;      三个扎心的现状&#10;    &lt;/Text&gt;&#10;    &lt;Text style={{&#10;      fontSize: 16,&#10;      color: '#64748B',&#10;      marginBottom: 40,&#10;    }}&gt;&#10;      几乎所有团队用大模型的方式，都惊人地一致——&#10;    &lt;/Text&gt;&#10;&#10;    &lt;Box style={{&#10;      display: 'flex',&#10;      flexDirection: 'row',&#10;      gap: 24,&#10;      flex: 1,&#10;    }}&gt;&#10;      &lt;Box style={{&#10;        flex: 1,&#10;        backgroundColor: '#FEF2F2',&#10;        borderLeft: '6px solid #DC2626',&#10;        padding: 24,&#10;        borderRadius: 8,&#10;        display: 'flex',&#10;        flexDirection: 'column',&#10;        gap: 12,&#10;      }}&gt;&#10;        &lt;Text style={{ fontSize: 32 }}&gt;🔓&lt;/Text&gt;&#10;        &lt;Text style={{ fontSize: 22, fontWeight: 'bold', color: '#DC2626' }}&gt;&#10;          裸奔 1：密钥群里飞&#10;        &lt;/Text&gt;&#10;        &lt;Text style={{ fontSize: 16, color: '#475569', lineHeight: 1.6 }}&gt;&#10;          1 个 API Key 全组共用，谁用超不知道，谁泄露说不清；月底账单出来，互相猜是谁干的。&#10;        &lt;/Text&gt;&#10;      &lt;/Box&gt;&#10;&#10;      &lt;Box style={{&#10;        flex: 1,&#10;        backgroundColor: '#FEF2F2',&#10;        borderLeft: '6px solid #DC2626',&#10;        padding: 24,&#10;        borderRadius: 8,&#10;        display: 'flex',&#10;        flexDirection: 'column',&#10;        gap: 12,&#10;      }}&gt;&#10;        &lt;Text style={{ fontSize: 32 }}&gt;📤&lt;/Text&gt;&#10;        &lt;Text style={{ fontSize: 22, fontWeight: 'bold', color: '#DC2626' }}&gt;&#10;          裸奔 2：数据公网飞&#10;        &lt;/Text&gt;&#10;        &lt;Text style={{ fontSize: 16, color: '#475569', lineHeight: 1.6 }}&gt;&#10;          合同、代码、客户资料贴进公开网页版对话框，数据出了域，追溯无从谈起。&#10;        &lt;/Text&gt;&#10;      &lt;/Box&gt;&#10;&#10;      &lt;Box style={{&#10;        flex: 1,&#10;        backgroundColor: '#FEF2F2',&#10;        borderLeft: '6px solid #DC2626',&#10;        padding: 24,&#10;        borderRadius: 8,&#10;        display: 'flex',&#10;        flexDirection: 'column',&#10;        gap: 12,&#10;      }}&gt;&#10;        &lt;Text style={{ fontSize: 32 }}&gt;⛓️&lt;/Text&gt;&#10;        &lt;Text style={{ fontSize: 22, fontWeight: 'bold', color: '#DC2626' }}&gt;&#10;          裸奔 3：被模型绑架&#10;        &lt;/Text&gt;&#10;        &lt;Text style={{ fontSize: 16, color: '#475569', lineHeight: 1.6 }}&gt;&#10;          一个客户端一个地址、一个 Key、一套配置；想切模型，所有接入方都要改一遍。&#10;        &lt;/Text&gt;&#10;      &lt;/Box&gt;&#10;    &lt;/Box&gt;&#10;&#10;    &lt;Text style={{&#10;      fontSize: 22,&#10;      fontWeight: 'bold',&#10;      color: '#1F3A8A',&#10;      textAlign: 'center',&#10;      marginTop: 32,&#10;    }}&gt;&#10;      大模型在企业里，缺一个&quot;总闸门&quot;。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矩形 2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背景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571500" y="809625"/>
            <a:ext cx="110490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3A8A"/>
                </a:solidFill>
                <a:latin typeface="Microsoft YaHei"/>
                <a:ea typeface="Microsoft YaHei"/>
              </a:rPr>
              <a:t>三个扎心的现状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571500" y="1343025"/>
            <a:ext cx="11049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几乎所有团队用大模型的方式，都惊人地一致——</a:t>
            </a:r>
            <a:endParaRPr/>
          </a:p>
        </p:txBody>
      </p:sp>
      <p:sp>
        <p:nvSpPr>
          <p:cNvPr id="296" name="矩形: 圆角 295"/>
          <p:cNvSpPr/>
          <p:nvPr/>
        </p:nvSpPr>
        <p:spPr>
          <a:xfrm>
            <a:off x="628650" y="1914525"/>
            <a:ext cx="3533775" cy="3810000"/>
          </a:xfrm>
          <a:prstGeom prst="roundRect">
            <a:avLst>
              <a:gd name="adj" fmla="val 215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7" name="任意多边形: 形状 296"/>
          <p:cNvSpPr/>
          <p:nvPr/>
        </p:nvSpPr>
        <p:spPr>
          <a:xfrm>
            <a:off x="628650" y="1914525"/>
            <a:ext cx="3533775" cy="3810000"/>
          </a:xfrm>
          <a:custGeom>
            <a:avLst/>
            <a:gdLst/>
            <a:ahLst/>
            <a:cxnLst/>
            <a:rect l="0" t="0" r="0" b="0"/>
            <a:pathLst>
              <a:path w="371" h="400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398"/>
                </a:lnTo>
                <a:cubicBezTo>
                  <a:pt x="6" y="399"/>
                  <a:pt x="7" y="400"/>
                  <a:pt x="8" y="400"/>
                </a:cubicBezTo>
                <a:cubicBezTo>
                  <a:pt x="3" y="400"/>
                  <a:pt x="0" y="396"/>
                  <a:pt x="0" y="392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57250" y="2143125"/>
            <a:ext cx="301942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🔓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57250" y="2628900"/>
            <a:ext cx="30194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裸奔</a:t>
            </a:r>
            <a:r>
              <a:rPr lang="en-US" sz="1650" b="1">
                <a:solidFill>
                  <a:srgbClr val="DC2626"/>
                </a:solidFill>
                <a:latin typeface="Microsoft YaHei"/>
                <a:ea typeface="Microsoft YaHei"/>
              </a:rPr>
              <a:t> 1</a:t>
            </a: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：密钥群里飞</a:t>
            </a:r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57250" y="3000375"/>
            <a:ext cx="3019425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1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个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API Key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全组共用，谁用超不知道，谁泄露说不清；月底账单出来，互相猜是谁干的。</a:t>
            </a:r>
            <a:endParaRPr/>
          </a:p>
        </p:txBody>
      </p:sp>
      <p:sp>
        <p:nvSpPr>
          <p:cNvPr id="301" name="矩形: 圆角 300"/>
          <p:cNvSpPr/>
          <p:nvPr/>
        </p:nvSpPr>
        <p:spPr>
          <a:xfrm>
            <a:off x="4391025" y="1914525"/>
            <a:ext cx="3524250" cy="3810000"/>
          </a:xfrm>
          <a:prstGeom prst="roundRect">
            <a:avLst>
              <a:gd name="adj" fmla="val 2162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2" name="任意多边形: 形状 301"/>
          <p:cNvSpPr/>
          <p:nvPr/>
        </p:nvSpPr>
        <p:spPr>
          <a:xfrm>
            <a:off x="4391025" y="1914525"/>
            <a:ext cx="3524250" cy="3810000"/>
          </a:xfrm>
          <a:custGeom>
            <a:avLst/>
            <a:gdLst/>
            <a:ahLst/>
            <a:cxnLst/>
            <a:rect l="0" t="0" r="0" b="0"/>
            <a:pathLst>
              <a:path w="370" h="400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398"/>
                </a:lnTo>
                <a:cubicBezTo>
                  <a:pt x="6" y="399"/>
                  <a:pt x="7" y="400"/>
                  <a:pt x="8" y="400"/>
                </a:cubicBezTo>
                <a:cubicBezTo>
                  <a:pt x="3" y="400"/>
                  <a:pt x="0" y="396"/>
                  <a:pt x="0" y="392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4619625" y="2143125"/>
            <a:ext cx="30099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📤</a:t>
            </a:r>
            <a:endParaRPr/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4619625" y="2628900"/>
            <a:ext cx="30099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裸奔</a:t>
            </a:r>
            <a:r>
              <a:rPr lang="en-US" sz="1650" b="1">
                <a:solidFill>
                  <a:srgbClr val="DC2626"/>
                </a:solidFill>
                <a:latin typeface="Microsoft YaHei"/>
                <a:ea typeface="Microsoft YaHei"/>
              </a:rPr>
              <a:t> 2</a:t>
            </a: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：数据公网飞</a:t>
            </a:r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4619625" y="3000375"/>
            <a:ext cx="30099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合同、代码、客户资料贴进公开网页版对话框，数据出了域，追溯无从谈起。</a:t>
            </a:r>
            <a:endParaRPr/>
          </a:p>
        </p:txBody>
      </p:sp>
      <p:sp>
        <p:nvSpPr>
          <p:cNvPr id="306" name="矩形: 圆角 305"/>
          <p:cNvSpPr/>
          <p:nvPr/>
        </p:nvSpPr>
        <p:spPr>
          <a:xfrm>
            <a:off x="8143875" y="1914525"/>
            <a:ext cx="3533775" cy="3810000"/>
          </a:xfrm>
          <a:prstGeom prst="roundRect">
            <a:avLst>
              <a:gd name="adj" fmla="val 215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任意多边形: 形状 306"/>
          <p:cNvSpPr/>
          <p:nvPr/>
        </p:nvSpPr>
        <p:spPr>
          <a:xfrm>
            <a:off x="8143875" y="1914525"/>
            <a:ext cx="3533775" cy="3810000"/>
          </a:xfrm>
          <a:custGeom>
            <a:avLst/>
            <a:gdLst/>
            <a:ahLst/>
            <a:cxnLst/>
            <a:rect l="0" t="0" r="0" b="0"/>
            <a:pathLst>
              <a:path w="371" h="400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398"/>
                </a:lnTo>
                <a:cubicBezTo>
                  <a:pt x="6" y="399"/>
                  <a:pt x="7" y="400"/>
                  <a:pt x="8" y="400"/>
                </a:cubicBezTo>
                <a:cubicBezTo>
                  <a:pt x="3" y="400"/>
                  <a:pt x="0" y="396"/>
                  <a:pt x="0" y="392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8372475" y="2143125"/>
            <a:ext cx="301942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⛓️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8372475" y="2628900"/>
            <a:ext cx="30194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裸奔</a:t>
            </a:r>
            <a:r>
              <a:rPr lang="en-US" sz="1650" b="1">
                <a:solidFill>
                  <a:srgbClr val="DC2626"/>
                </a:solidFill>
                <a:latin typeface="Microsoft YaHei"/>
                <a:ea typeface="Microsoft YaHei"/>
              </a:rPr>
              <a:t> 3</a:t>
            </a: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：被模型绑架</a:t>
            </a:r>
            <a:endParaRPr/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8372475" y="3000375"/>
            <a:ext cx="30194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一个客户端一个地址、一个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Key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、一套配置；想切模型，所有接入方都要改一遍。</a:t>
            </a:r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571500" y="6029325"/>
            <a:ext cx="110490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1F3A8A"/>
                </a:solidFill>
                <a:latin typeface="Microsoft YaHei"/>
                <a:ea typeface="Microsoft YaHei"/>
              </a:rPr>
              <a:t>大模型在企业里，缺一个</a:t>
            </a:r>
            <a:r>
              <a:rPr lang="en-US" sz="1650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F3A8A"/>
                </a:solidFill>
                <a:latin typeface="Microsoft YaHei"/>
                <a:ea typeface="Microsoft YaHei"/>
              </a:rPr>
              <a:t>总闸门</a:t>
            </a:r>
            <a:r>
              <a:rPr lang="en-US" sz="1650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F3A8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60,&#10;    display: 'flex',&#10;    flexDirection: 'column',&#10;  }}&gt;&#10;    &lt;Text style={{&#10;      fontSize: 14,&#10;      color: '#0EA5E9',&#10;      letterSpacing: 2,&#10;      marginBottom: 8,&#10;    }}&gt;&#10;      02 定位&#10;    &lt;/Text&gt;&#10;    &lt;Text style={{&#10;      fontSize: 40,&#10;      fontWeight: 'bold',&#10;      color: '#1F3A8A',&#10;      marginBottom: 8,&#10;    }}&gt;&#10;      我们的选择：自用网关&#10;    &lt;/Text&gt;&#10;    &lt;Text style={{&#10;      fontSize: 16,&#10;      color: '#64748B',&#10;      marginBottom: 40,&#10;    }}&gt;&#10;      不卖算力，只做&quot;管好自己人怎么用 AI&quot;&#10;    &lt;/Text&gt;&#10;&#10;    &lt;Box style={{&#10;      display: 'flex',&#10;      flexDirection: 'row',&#10;      gap: 32,&#10;      flex: 1,&#10;    }}&gt;&#10;      &lt;Box style={{&#10;        flex: 1,&#10;        backgroundColor: '#F8FAFC',&#10;        padding: 28,&#10;        borderRadius: 12,&#10;      }}&gt;&#10;        &lt;Text style={{&#10;          fontSize: 14,&#10;          color: '#94A3B8',&#10;          letterSpacing: 2,&#10;          marginBottom: 12,&#10;        }}&gt;&#10;          我们 不 做&#10;        &lt;/Text&gt;&#10;        &lt;Box style={{ display: 'flex', flexDirection: 'column', gap: 16 }}&gt;&#10;          {[&#10;            { icon: '✗', label: '不做转售 API', desc: '红海 + 合规风险' },&#10;            { icon: '✗', label: '不做 token 商城', desc: '不与硅基流动/官方拼价' },&#10;            { icon: '✗', label: '不做算力平台', desc: 'GPU 投入产出风险高' },&#10;          ].map((item, idx) =&gt; (&#10;            &lt;Box key={idx} style={{ display: 'flex', flexDirection: 'row', alignItems: 'flex-start', gap: 12 }}&gt;&#10;              &lt;Text style={{ fontSize: 24, color: '#DC2626', fontWeight: 'bold' }}&gt;{item.icon}&lt;/Text&gt;&#10;              &lt;Box&gt;&#10;                &lt;Text style={{ fontSize: 18, fontWeight: 'bold', color: '#1F3A8A' }}&gt;{item.label}&lt;/Text&gt;&#10;                &lt;Text style={{ fontSize: 14, color: '#64748B' }}&gt;{item.desc}&lt;/Text&gt;&#10;              &lt;/Box&gt;&#10;            &lt;/Box&gt;&#10;          ))}&#10;        &lt;/Box&gt;&#10;      &lt;/Box&gt;&#10;&#10;      &lt;Box style={{&#10;        flex: 1,&#10;        backgroundColor: '#1F3A8A',&#10;        padding: 28,&#10;        borderRadius: 12,&#10;      }}&gt;&#10;        &lt;Text style={{&#10;          fontSize: 14,&#10;          color: '#0EA5E9',&#10;          letterSpacing: 2,&#10;          marginBottom: 12,&#10;        }}&gt;&#10;          我们 做&#10;        &lt;/Text&gt;&#10;        &lt;Box style={{ display: 'flex', flexDirection: 'column', gap: 16 }}&gt;&#10;          {[&#10;            { icon: '✓', label: '内网统一出口', desc: '员工只认一个地址' },&#10;            { icon: '✓', label: '按人/部门发卡', desc: 'sk- 密钥独立鉴权' },&#10;            { icon: '✓', label: '用量审计与权限', desc: '日/周/月 + 缓存命中' },&#10;            { icon: '✓', label: '自有 + 云端模型并存', desc: '敏感度决定部署位置' },&#10;          ].map((item, idx) =&gt; (&#10;            &lt;Box key={idx} style={{ display: 'flex', flexDirection: 'row', alignItems: 'flex-start', gap: 12 }}&gt;&#10;              &lt;Text style={{ fontSize: 24, color: '#10B981', fontWeight: 'bold' }}&gt;{item.icon}&lt;/Text&gt;&#10;              &lt;Box&gt;&#10;                &lt;Text style={{ fontSize: 18, fontWeight: 'bold', color: '#FFFFFF' }}&gt;{item.label}&lt;/Text&gt;&#10;                &lt;Text style={{ fontSize: 14, color: '#CBD5E1' }}&gt;{item.desc}&lt;/Text&gt;&#10;              &lt;/Box&gt;&#10;            &lt;/Box&gt;&#10;          ))}&#10;        &lt;/Box&gt;&#10;      &lt;/Box&gt;&#10;    &lt;/Box&gt;&#10;&#10;    &lt;Text style={{&#10;      fontSize: 28,&#10;      fontWeight: 'bold',&#10;      color: '#0EA5E9',&#10;      textAlign: 'center',&#10;      marginTop: 32,&#10;    }}&gt;&#10;      把大模型变成公司的&quot;自来水&quot;——拧开就有，每户有表，坏了能关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矩形 3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02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571500" y="809625"/>
            <a:ext cx="110490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3A8A"/>
                </a:solidFill>
                <a:latin typeface="Microsoft YaHei"/>
                <a:ea typeface="Microsoft YaHei"/>
              </a:rPr>
              <a:t>我们的选择：自用网关</a:t>
            </a:r>
            <a:endParaRPr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571500" y="1343025"/>
            <a:ext cx="11049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不卖算力，只做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管好自己人怎么用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AI"</a:t>
            </a:r>
            <a:endParaRPr/>
          </a:p>
        </p:txBody>
      </p:sp>
      <p:sp>
        <p:nvSpPr>
          <p:cNvPr id="317" name="矩形: 圆角 316"/>
          <p:cNvSpPr/>
          <p:nvPr/>
        </p:nvSpPr>
        <p:spPr>
          <a:xfrm>
            <a:off x="571500" y="1914525"/>
            <a:ext cx="5372100" cy="3743325"/>
          </a:xfrm>
          <a:prstGeom prst="roundRect">
            <a:avLst>
              <a:gd name="adj" fmla="val 305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838200" y="2181225"/>
            <a:ext cx="4838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我们</a:t>
            </a: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不</a:t>
            </a: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>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做</a:t>
            </a:r>
            <a:endParaRPr/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838200" y="245745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DC2626"/>
                </a:solidFill>
                <a:latin typeface="Microsoft YaHei"/>
                <a:ea typeface="Microsoft YaHei"/>
              </a:rPr>
              <a:t>✗</a:t>
            </a:r>
            <a:endParaRPr/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1181100" y="2457450"/>
            <a:ext cx="10382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不做转售</a:t>
            </a:r>
            <a:r>
              <a:rPr lang="en-US" sz="1350" b="1">
                <a:solidFill>
                  <a:srgbClr val="1F3A8A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1181100" y="2667000"/>
            <a:ext cx="10382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红海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合规风险</a:t>
            </a:r>
            <a:endParaRPr/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838200" y="2981325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DC2626"/>
                </a:solidFill>
                <a:latin typeface="Microsoft YaHei"/>
                <a:ea typeface="Microsoft YaHei"/>
              </a:rPr>
              <a:t>✗</a:t>
            </a:r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181100" y="2981325"/>
            <a:ext cx="1390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不做</a:t>
            </a:r>
            <a:r>
              <a:rPr lang="en-US" sz="1350" b="1">
                <a:solidFill>
                  <a:srgbClr val="1F3A8A"/>
                </a:solidFill>
                <a:latin typeface="Microsoft YaHei"/>
                <a:ea typeface="Microsoft YaHei"/>
              </a:rPr>
              <a:t> token </a:t>
            </a: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商城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1181100" y="3190875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不与硅基流动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官方拼价</a:t>
            </a:r>
            <a:endParaRPr/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838200" y="350520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DC2626"/>
                </a:solidFill>
                <a:latin typeface="Microsoft YaHei"/>
                <a:ea typeface="Microsoft YaHei"/>
              </a:rPr>
              <a:t>✗</a:t>
            </a:r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1181100" y="3505200"/>
            <a:ext cx="1257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不做算力平台</a:t>
            </a:r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1181100" y="37147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GPU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投入产出风险高</a:t>
            </a:r>
            <a:endParaRPr/>
          </a:p>
        </p:txBody>
      </p:sp>
      <p:sp>
        <p:nvSpPr>
          <p:cNvPr id="328" name="矩形: 圆角 327"/>
          <p:cNvSpPr/>
          <p:nvPr/>
        </p:nvSpPr>
        <p:spPr>
          <a:xfrm>
            <a:off x="6248400" y="1914525"/>
            <a:ext cx="5372100" cy="3743325"/>
          </a:xfrm>
          <a:prstGeom prst="roundRect">
            <a:avLst>
              <a:gd name="adj" fmla="val 3053"/>
            </a:avLst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6515100" y="2181225"/>
            <a:ext cx="4838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我们</a:t>
            </a: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做</a:t>
            </a:r>
            <a:endParaRPr/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6515100" y="245745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6858000" y="2457450"/>
            <a:ext cx="1066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内网统一出口</a:t>
            </a:r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858000" y="2667000"/>
            <a:ext cx="1066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员工只认一个地址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6515100" y="2981325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6858000" y="2981325"/>
            <a:ext cx="11144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按人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部门发卡</a:t>
            </a:r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6858000" y="3190875"/>
            <a:ext cx="1114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sk-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密钥独立鉴权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6515100" y="350520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6858000" y="3505200"/>
            <a:ext cx="1228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用量审计与权限</a:t>
            </a:r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6858000" y="3714750"/>
            <a:ext cx="1228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日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周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月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缓存命中</a:t>
            </a:r>
            <a:endParaRPr/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515100" y="4029075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0" y="4029075"/>
            <a:ext cx="1609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自有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云端模型并存</a:t>
            </a:r>
            <a:endParaRPr/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0" y="4238625"/>
            <a:ext cx="1609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敏感度决定部署位置</a:t>
            </a:r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571500" y="5962650"/>
            <a:ext cx="11049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2100" b="1">
                <a:solidFill>
                  <a:srgbClr val="0EA5E9"/>
                </a:solidFill>
                <a:latin typeface="Microsoft YaHei"/>
                <a:ea typeface="Microsoft YaHei"/>
              </a:rPr>
              <a:t>把大模型变成公司的</a:t>
            </a:r>
            <a:r>
              <a:rPr lang="en-US" sz="2100" b="1">
                <a:solidFill>
                  <a:srgbClr val="0EA5E9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0EA5E9"/>
                </a:solidFill>
                <a:latin typeface="Microsoft YaHei"/>
                <a:ea typeface="Microsoft YaHei"/>
              </a:rPr>
              <a:t>自来水</a:t>
            </a:r>
            <a:r>
              <a:rPr lang="en-US" sz="2100" b="1">
                <a:solidFill>
                  <a:srgbClr val="0EA5E9"/>
                </a:solidFill>
                <a:latin typeface="Microsoft YaHei"/>
                <a:ea typeface="Microsoft YaHei"/>
              </a:rPr>
              <a:t>"——</a:t>
            </a:r>
            <a:r>
              <a:rPr lang="zh-CN" sz="2100" b="1">
                <a:solidFill>
                  <a:srgbClr val="0EA5E9"/>
                </a:solidFill>
                <a:latin typeface="Microsoft YaHei"/>
                <a:ea typeface="Microsoft YaHei"/>
              </a:rPr>
              <a:t>拧开就有，每户有表，坏了能关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60,&#10;    display: 'flex',&#10;    flexDirection: 'row',&#10;    gap: 40,&#10;  }}&gt;&#10;    &lt;Box style={{ flex: 1, display: 'flex', flexDirection: 'column', justifyContent: 'center' }}&gt;&#10;      &lt;Text style={{&#10;        fontSize: 14,&#10;        color: '#0EA5E9',&#10;        letterSpacing: 2,&#10;        marginBottom: 8,&#10;      }}&gt;&#10;        03 项目&#10;      &lt;/Text&gt;&#10;      &lt;Text style={{&#10;        fontSize: 40,&#10;        fontWeight: 'bold',&#10;        color: '#1F3A8A',&#10;        marginBottom: 16,&#10;      }}&gt;&#10;        llm-proxy-tk 是什么&#10;      &lt;/Text&gt;&#10;      &lt;Text style={{&#10;        fontSize: 20,&#10;        color: '#475569',&#10;        lineHeight: 1.6,&#10;        marginBottom: 24,&#10;      }}&gt;&#10;        一个内网部署的轻量大模型网关 —— FastAPI + SQLite，单文件部署，5 分钟跑起来。&#10;      &lt;/Text&gt;&#10;&#10;      &lt;Box style={{ display: 'flex', flexDirection: 'column', gap: 14 }}&gt;&#10;        {[&#10;          { icon: '🔀', title: '多上游路由', desc: '本地 vLLM / Ollama + 云端 API 统一接入' },&#10;          { icon: '🔑', title: 'sk- 密钥鉴权', desc: '按人/部门发卡，丢失一键重置' },&#10;          { icon: '🌐', title: '双方言兼容', desc: 'OpenAI / Anthropic 自动翻译' },&#10;          { icon: '📊', title: '用量统计', desc: '日/周/月 + 缓存命中可见' },&#10;        ].map((item, idx) =&gt; (&#10;          &lt;Box key={idx} style={{ display: 'flex', flexDirection: 'row', alignItems: 'center', gap: 12 }}&gt;&#10;            &lt;Text style={{ fontSize: 28 }}&gt;{item.icon}&lt;/Text&gt;&#10;            &lt;Box&gt;&#10;              &lt;Text style={{ fontSize: 18, fontWeight: 'bold', color: '#1F3A8A' }}&gt;{item.title}&lt;/Text&gt;&#10;              &lt;Text style={{ fontSize: 14, color: '#64748B' }}&gt;{item.desc}&lt;/Text&gt;&#10;            &lt;/Box&gt;&#10;          &lt;/Box&gt;&#10;        ))}&#10;      &lt;/Box&gt;&#10;    &lt;/Box&gt;&#10;&#10;    &lt;Box style={{&#10;      width: 480,&#10;      display: 'flex',&#10;      alignItems: 'center',&#10;      justifyContent: 'center',&#10;      backgroundColor: '#F1F5F9',&#10;      borderRadius: 12,&#10;      padding: 16,&#10;    }}&gt;&#10;      &lt;Image&#10;        src=&quot;assets/login.png&quot;&#10;        style={{ width: '100%', objectFit: 'contain', borderRadius: 8 }}&#10;     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矩形 3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571500" y="1581150"/>
            <a:ext cx="6096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03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571500" y="1819275"/>
            <a:ext cx="60960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 dirty="0" err="1">
                <a:solidFill>
                  <a:srgbClr val="1F3A8A"/>
                </a:solidFill>
                <a:latin typeface="Microsoft YaHei"/>
                <a:ea typeface="Microsoft YaHei"/>
              </a:rPr>
              <a:t>llm</a:t>
            </a:r>
            <a:r>
              <a:rPr lang="en-US" sz="3000" b="1" dirty="0">
                <a:solidFill>
                  <a:srgbClr val="1F3A8A"/>
                </a:solidFill>
                <a:latin typeface="Microsoft YaHei"/>
                <a:ea typeface="Microsoft YaHei"/>
              </a:rPr>
              <a:t>-</a:t>
            </a:r>
            <a:r>
              <a:rPr lang="en-US" sz="3000" b="1" dirty="0" err="1">
                <a:solidFill>
                  <a:srgbClr val="1F3A8A"/>
                </a:solidFill>
                <a:latin typeface="Microsoft YaHei"/>
                <a:ea typeface="Microsoft YaHei"/>
              </a:rPr>
              <a:t>api</a:t>
            </a:r>
            <a:r>
              <a:rPr lang="en-US" sz="3000" b="1" dirty="0">
                <a:solidFill>
                  <a:srgbClr val="1F3A8A"/>
                </a:solidFill>
                <a:latin typeface="Microsoft YaHei"/>
                <a:ea typeface="Microsoft YaHei"/>
              </a:rPr>
              <a:t>-gateway </a:t>
            </a:r>
            <a:r>
              <a:rPr lang="zh-CN" sz="3000" b="1" dirty="0">
                <a:solidFill>
                  <a:srgbClr val="1F3A8A"/>
                </a:solidFill>
                <a:latin typeface="Microsoft YaHei"/>
                <a:ea typeface="Microsoft YaHei"/>
              </a:rPr>
              <a:t>是什么</a:t>
            </a:r>
            <a:endParaRPr dirty="0"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571500" y="2428875"/>
            <a:ext cx="609600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 dirty="0">
                <a:solidFill>
                  <a:srgbClr val="475569"/>
                </a:solidFill>
                <a:latin typeface="Microsoft YaHei"/>
                <a:ea typeface="Microsoft YaHei"/>
              </a:rPr>
              <a:t>一个内网部署的轻量大模型网关</a:t>
            </a:r>
            <a:r>
              <a:rPr lang="en-US" sz="1500" dirty="0">
                <a:solidFill>
                  <a:srgbClr val="475569"/>
                </a:solidFill>
                <a:latin typeface="Microsoft YaHei"/>
                <a:ea typeface="Microsoft YaHei"/>
              </a:rPr>
              <a:t> —— </a:t>
            </a:r>
            <a:r>
              <a:rPr lang="en-US" sz="1500" dirty="0" err="1">
                <a:solidFill>
                  <a:srgbClr val="475569"/>
                </a:solidFill>
                <a:latin typeface="Microsoft YaHei"/>
                <a:ea typeface="Microsoft YaHei"/>
              </a:rPr>
              <a:t>FastAPI</a:t>
            </a:r>
            <a:r>
              <a:rPr lang="en-US" sz="1500" dirty="0">
                <a:solidFill>
                  <a:srgbClr val="475569"/>
                </a:solidFill>
                <a:latin typeface="Microsoft YaHei"/>
                <a:ea typeface="Microsoft YaHei"/>
              </a:rPr>
              <a:t> + SQLite</a:t>
            </a:r>
            <a:r>
              <a:rPr lang="zh-CN" sz="1500" dirty="0">
                <a:solidFill>
                  <a:srgbClr val="475569"/>
                </a:solidFill>
                <a:latin typeface="Microsoft YaHei"/>
                <a:ea typeface="Microsoft YaHei"/>
              </a:rPr>
              <a:t>，单文件部署，</a:t>
            </a:r>
            <a:r>
              <a:rPr lang="en-US" sz="1500" dirty="0">
                <a:solidFill>
                  <a:srgbClr val="475569"/>
                </a:solidFill>
                <a:latin typeface="Microsoft YaHei"/>
                <a:ea typeface="Microsoft YaHei"/>
              </a:rPr>
              <a:t>5 </a:t>
            </a:r>
            <a:r>
              <a:rPr lang="zh-CN" sz="1500" dirty="0">
                <a:solidFill>
                  <a:srgbClr val="475569"/>
                </a:solidFill>
                <a:latin typeface="Microsoft YaHei"/>
                <a:ea typeface="Microsoft YaHei"/>
              </a:rPr>
              <a:t>分钟跑起来。</a:t>
            </a:r>
            <a:endParaRPr dirty="0"/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571500" y="3419475"/>
            <a:ext cx="3714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100">
                <a:solidFill>
                  <a:schemeClr val="tx1"/>
                </a:solidFill>
                <a:latin typeface="Microsoft YaHei"/>
                <a:ea typeface="Microsoft YaHei"/>
              </a:rPr>
              <a:t>🔀</a:t>
            </a:r>
            <a:endParaRPr/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1057275" y="3390900"/>
            <a:ext cx="2505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多上游路由</a:t>
            </a:r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1057275" y="3600450"/>
            <a:ext cx="2505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本地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vLLM / Ollama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云端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API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统一接入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571500" y="3924300"/>
            <a:ext cx="3714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100">
                <a:solidFill>
                  <a:schemeClr val="tx1"/>
                </a:solidFill>
                <a:latin typeface="Microsoft YaHei"/>
                <a:ea typeface="Microsoft YaHei"/>
              </a:rPr>
              <a:t>🔑</a:t>
            </a:r>
            <a:endParaRPr/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057275" y="3895725"/>
            <a:ext cx="17907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3A8A"/>
                </a:solidFill>
                <a:latin typeface="Microsoft YaHei"/>
                <a:ea typeface="Microsoft YaHei"/>
              </a:rPr>
              <a:t>sk- </a:t>
            </a: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密钥鉴权</a:t>
            </a:r>
            <a:endParaRPr/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057275" y="4105275"/>
            <a:ext cx="1790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按人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部门发卡，丢失一键重置</a:t>
            </a:r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571500" y="4429125"/>
            <a:ext cx="3714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100">
                <a:solidFill>
                  <a:schemeClr val="tx1"/>
                </a:solidFill>
                <a:latin typeface="Microsoft YaHei"/>
                <a:ea typeface="Microsoft YaHei"/>
              </a:rPr>
              <a:t>🌐</a:t>
            </a:r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57275" y="4400550"/>
            <a:ext cx="1828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双方言兼容</a:t>
            </a:r>
            <a:endParaRPr/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057275" y="4610100"/>
            <a:ext cx="1828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OpenAI / Anthropic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自动翻译</a:t>
            </a:r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571500" y="4933950"/>
            <a:ext cx="3714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100">
                <a:solidFill>
                  <a:schemeClr val="tx1"/>
                </a:solidFill>
                <a:latin typeface="Microsoft YaHei"/>
                <a:ea typeface="Microsoft YaHei"/>
              </a:rPr>
              <a:t>📊</a:t>
            </a:r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1057275" y="4905375"/>
            <a:ext cx="14954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A8A"/>
                </a:solidFill>
                <a:latin typeface="Microsoft YaHei"/>
                <a:ea typeface="Microsoft YaHei"/>
              </a:rPr>
              <a:t>用量统计</a:t>
            </a:r>
            <a:endParaRPr/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1057275" y="5114925"/>
            <a:ext cx="1495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日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缓存命中可见</a:t>
            </a:r>
            <a:endParaRPr/>
          </a:p>
        </p:txBody>
      </p:sp>
      <p:sp>
        <p:nvSpPr>
          <p:cNvPr id="360" name="矩形: 圆角 359"/>
          <p:cNvSpPr/>
          <p:nvPr/>
        </p:nvSpPr>
        <p:spPr>
          <a:xfrm>
            <a:off x="7048500" y="571500"/>
            <a:ext cx="4572000" cy="5715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1A2F9D-9583-96A1-269B-3F5654875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74" y="855133"/>
            <a:ext cx="3984626" cy="5291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column',&#10;  }}&gt;&#10;    &lt;Text style={{&#10;      fontSize: 14,&#10;      color: '#0EA5E9',&#10;      letterSpacing: 2,&#10;      marginBottom: 8,&#10;    }}&gt;&#10;      03 架构&#10;    &lt;/Text&gt;&#10;    &lt;Text style={{&#10;      fontSize: 36,&#10;      fontWeight: 'bold',&#10;      color: '#1F3A8A',&#10;      marginBottom: 16,&#10;    }}&gt;&#10;      一层很薄的&quot;智能总闸&quot;&#10;    &lt;/Text&gt;&#10;&#10;    &lt;Box style={{&#10;      flex: 1,&#10;      display: 'flex',&#10;      flexDirection: 'row',&#10;      gap: 24,&#10;      marginTop: 12,&#10;    }}&gt;&#10;      &lt;Box style={{&#10;        flex: 1.4,&#10;        backgroundColor: '#F8FAFC',&#10;        borderRadius: 12,&#10;        padding: 16,&#10;        display: 'flex',&#10;        alignItems: 'center',&#10;        justifyContent: 'center',&#10;      }}&gt;&#10;        &lt;Image&#10;          src=&quot;assets/llm-api-gateway-architecture.png&quot;&#10;          style={{ width: '100%', objectFit: 'contain', borderRadius: 8 }}&#10;        /&gt;&#10;      &lt;/Box&gt;&#10;&#10;      &lt;Box style={{ flex: 1, display: 'flex', flexDirection: 'column', gap: 12 }}&gt;&#10;        &lt;Text style={{&#10;          fontSize: 16,&#10;          color: '#475569',&#10;          lineHeight: 1.6,&#10;        }}&gt;&#10;          调用方拿到的就是一个&lt;span style={{ fontWeight: 'bold', color: '#1F3A8A' }}&gt;标准 OpenAI 格式的接口&lt;/span&gt;，体验和直接调官方 API 没区别。&#10;        &lt;/Text&gt;&#10;        &lt;Box style={{&#10;          backgroundColor: '#0F172A',&#10;          padding: 18,&#10;          borderRadius: 8,&#10;        }}&gt;&#10;          &lt;Text style={{&#10;            fontSize: 11,&#10;            color: '#94A3B8',&#10;            fontFamily: 'monospace',&#10;            marginBottom: 8,&#10;          }}&gt;&#10;            $ curl&#10;          &lt;/Text&gt;&#10;          &lt;Text style={{&#10;            fontSize: 12,&#10;            color: '#E2E8F0',&#10;            fontFamily: 'monospace',&#10;            lineHeight: 1.6,&#10;          }}&gt;&#10;            &lt;span style={{ color: '#0EA5E9' }}&gt;curl&lt;/span&gt; http://gateway.内网:9000/v1/chat/completions \{&quot;\n&quot;}&#10;            {&quot;  &quot;}-H &lt;span style={{ color: '#10B981' }}&gt;&quot;Authorization: Bearer sk-张三&quot;&lt;/span&gt; \{&quot;\n&quot;}&#10;            {&quot;  &quot;}-d &lt;span style={{ color: '#10B981' }}&gt;'{&quot;{&quot;}&lt;/span&gt;&#10;            {&quot;\n  &quot;}&lt;span style={{ color: '#10B981' }}&gt;  &quot;model&quot;: &quot;deepseek-chat&quot;,&lt;/span&gt;{&quot;\n&quot;}&#10;            {&quot;  &quot;}&lt;span style={{ color: '#10B981' }}&gt;  &quot;messages&quot;: [...]&lt;/span&gt;&#10;          &lt;/Text&gt;&#10;        &lt;/Box&gt;&#10;        &lt;Text style={{&#10;          fontSize: 13,&#10;          color: '#64748B',&#10;          lineHeight: 1.5,&#10;        }}&gt;&#10;          改个 base_url 就接上。所有&quot;秩序&quot;都发生在网关这一层。&#10;        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矩形 3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476250" y="476250"/>
            <a:ext cx="11239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03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76250" y="714375"/>
            <a:ext cx="112395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一层很薄的</a:t>
            </a: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智能总闸</a:t>
            </a: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66" name="矩形: 圆角 365"/>
          <p:cNvSpPr/>
          <p:nvPr/>
        </p:nvSpPr>
        <p:spPr>
          <a:xfrm>
            <a:off x="476250" y="1400175"/>
            <a:ext cx="6419850" cy="4981575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2"/>
          <a:srcRect l="9009" r="9009"/>
          <a:stretch>
            <a:fillRect/>
          </a:stretch>
        </p:blipFill>
        <p:spPr>
          <a:xfrm>
            <a:off x="533400" y="1440392"/>
            <a:ext cx="6115050" cy="4676775"/>
          </a:xfrm>
          <a:prstGeom prst="roundRect">
            <a:avLst>
              <a:gd name="adj" fmla="val 1629"/>
            </a:avLst>
          </a:prstGeom>
          <a:ln/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7124700" y="1400175"/>
            <a:ext cx="45910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调用方拿到的就是一个</a:t>
            </a: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标准</a:t>
            </a:r>
            <a:r>
              <a:rPr lang="en-US" sz="1200" b="1">
                <a:solidFill>
                  <a:srgbClr val="1F3A8A"/>
                </a:solidFill>
                <a:latin typeface="Microsoft YaHei"/>
                <a:ea typeface="Microsoft YaHei"/>
              </a:rPr>
              <a:t> OpenAI </a:t>
            </a: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格式的接口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，体验和直接调官方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API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没区别。</a:t>
            </a:r>
            <a:endParaRPr/>
          </a:p>
        </p:txBody>
      </p:sp>
      <p:sp>
        <p:nvSpPr>
          <p:cNvPr id="369" name="矩形: 圆角 368"/>
          <p:cNvSpPr/>
          <p:nvPr/>
        </p:nvSpPr>
        <p:spPr>
          <a:xfrm>
            <a:off x="7124700" y="2105025"/>
            <a:ext cx="4591050" cy="1657350"/>
          </a:xfrm>
          <a:prstGeom prst="roundRect">
            <a:avLst>
              <a:gd name="adj" fmla="val 459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7296150" y="2276475"/>
            <a:ext cx="42481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onospace"/>
                <a:ea typeface="monospace"/>
              </a:rPr>
              <a:t>$ curl</a:t>
            </a:r>
            <a:endParaRPr/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7296150" y="2486025"/>
            <a:ext cx="4248150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00">
                <a:solidFill>
                  <a:srgbClr val="0EA5E9"/>
                </a:solidFill>
                <a:latin typeface="monospace"/>
                <a:ea typeface="monospace"/>
              </a:rPr>
              <a:t>curl</a:t>
            </a:r>
            <a:r>
              <a:rPr lang="en-US" sz="900">
                <a:solidFill>
                  <a:srgbClr val="E2E8F0"/>
                </a:solidFill>
                <a:latin typeface="monospace"/>
                <a:ea typeface="monospace"/>
              </a:rPr>
              <a:t> http://gateway.</a:t>
            </a:r>
            <a:r>
              <a:rPr lang="zh-CN" sz="900">
                <a:solidFill>
                  <a:srgbClr val="E2E8F0"/>
                </a:solidFill>
                <a:latin typeface="monospace"/>
                <a:ea typeface="monospace"/>
              </a:rPr>
              <a:t>内网</a:t>
            </a:r>
            <a:r>
              <a:rPr lang="en-US" sz="900">
                <a:solidFill>
                  <a:srgbClr val="E2E8F0"/>
                </a:solidFill>
                <a:latin typeface="monospace"/>
                <a:ea typeface="monospace"/>
              </a:rPr>
              <a:t>:9000/v1/chat/completions \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monospace"/>
                <a:ea typeface="monospace"/>
              </a:rPr>
              <a:t>  -H </a:t>
            </a:r>
            <a:r>
              <a:rPr lang="en-US" sz="900">
                <a:solidFill>
                  <a:srgbClr val="10B981"/>
                </a:solidFill>
                <a:latin typeface="monospace"/>
                <a:ea typeface="monospace"/>
              </a:rPr>
              <a:t>"Authorization: Bearer sk-</a:t>
            </a:r>
            <a:r>
              <a:rPr lang="zh-CN" sz="900">
                <a:solidFill>
                  <a:srgbClr val="10B981"/>
                </a:solidFill>
                <a:latin typeface="monospace"/>
                <a:ea typeface="monospace"/>
              </a:rPr>
              <a:t>张三</a:t>
            </a:r>
            <a:r>
              <a:rPr lang="en-US" sz="900">
                <a:solidFill>
                  <a:srgbClr val="10B981"/>
                </a:solidFill>
                <a:latin typeface="monospace"/>
                <a:ea typeface="monospace"/>
              </a:rPr>
              <a:t>"</a:t>
            </a:r>
            <a:r>
              <a:rPr lang="en-US" sz="900">
                <a:solidFill>
                  <a:srgbClr val="E2E8F0"/>
                </a:solidFill>
                <a:latin typeface="monospace"/>
                <a:ea typeface="monospace"/>
              </a:rPr>
              <a:t> \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monospace"/>
                <a:ea typeface="monospace"/>
              </a:rPr>
              <a:t>  -d </a:t>
            </a:r>
            <a:r>
              <a:rPr lang="en-US" sz="900">
                <a:solidFill>
                  <a:srgbClr val="10B981"/>
                </a:solidFill>
                <a:latin typeface="monospace"/>
                <a:ea typeface="monospace"/>
              </a:rPr>
              <a:t>'{</a:t>
            </a:r>
            <a:r>
              <a:rPr lang="en-US" sz="900">
                <a:solidFill>
                  <a:srgbClr val="E2E8F0"/>
                </a:solidFill>
                <a:latin typeface="monospace"/>
                <a:ea typeface="monospace"/>
              </a:rPr>
              <a:t>
  </a:t>
            </a:r>
            <a:r>
              <a:rPr lang="en-US" sz="900">
                <a:solidFill>
                  <a:srgbClr val="10B981"/>
                </a:solidFill>
                <a:latin typeface="monospace"/>
                <a:ea typeface="monospace"/>
              </a:rPr>
              <a:t>  "model": "deepseek-chat",</a:t>
            </a:r>
            <a:endParaRPr/>
          </a:p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monospace"/>
                <a:ea typeface="monospace"/>
              </a:rPr>
              <a:t>  </a:t>
            </a:r>
            <a:r>
              <a:rPr lang="en-US" sz="900">
                <a:solidFill>
                  <a:srgbClr val="10B981"/>
                </a:solidFill>
                <a:latin typeface="monospace"/>
                <a:ea typeface="monospace"/>
              </a:rPr>
              <a:t>  "messages": [...]</a:t>
            </a:r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7124700" y="3876675"/>
            <a:ext cx="45910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改个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base_url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就接上。所有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秩序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都发生在网关这一层。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40,&#10;    display: 'flex',&#10;    flexDirection: 'row',&#10;    gap: 28,&#10;  }}&gt;&#10;    &lt;Box style={{ flex: 1, display: 'flex', flexDirection: 'column' }}&gt;&#10;      &lt;Text style={{&#10;        fontSize: 13,&#10;        color: '#0EA5E9',&#10;        letterSpacing: 2,&#10;        marginBottom: 6,&#10;      }}&gt;&#10;        03 能力&#10;      &lt;/Text&gt;&#10;      &lt;Text style={{&#10;        fontSize: 30,&#10;        fontWeight: 'bold',&#10;        color: '#1F3A8A',&#10;        marginBottom: 18,&#10;      }}&gt;&#10;        4 大能力把&quot;秩序&quot;建起来&#10;      &lt;/Text&gt;&#10;&#10;      &lt;Box style={{&#10;        display: 'grid',&#10;        gridTemplateColumns: '1fr 1fr',&#10;        gap: 12,&#10;        flex: 1,&#10;      }}&gt;&#10;        {[&#10;          { icon: '🔀', title: '多上游路由', desc: '一个网关背后挂任意多个模型服务' },&#10;          { icon: '🔑', title: '密钥管理', desc: '按人发卡、明文回显、丢失一键重置' },&#10;          { icon: '📊', title: '用量统计', desc: '日/周/月 + 缓存命中，月底出报表' },&#10;          { icon: '💬', title: '内置对话', desc: '员工日常问答不需去外部网页' },&#10;        ].map((item, idx) =&gt; (&#10;          &lt;Box key={idx} style={{&#10;            backgroundColor: '#F8FAFC',&#10;            padding: 14,&#10;            borderRadius: 10,&#10;            display: 'flex',&#10;            flexDirection: 'column',&#10;            gap: 4,&#10;          }}&gt;&#10;            &lt;Text style={{ fontSize: 26 }}&gt;{item.icon}&lt;/Text&gt;&#10;            &lt;Text style={{ fontSize: 17, fontWeight: 'bold', color: '#1F3A8A' }}&gt;&#10;              {item.title}&#10;            &lt;/Text&gt;&#10;            &lt;Text style={{ fontSize: 12, color: '#475569', lineHeight: 1.4 }}&gt;&#10;              {item.desc}&#10;            &lt;/Text&gt;&#10;          &lt;/Box&gt;&#10;        ))}&#10;      &lt;/Box&gt;&#10;    &lt;/Box&gt;&#10;&#10;    &lt;Box style={{&#10;      width: 420,&#10;      backgroundColor: '#F1F5F9',&#10;      borderRadius: 10,&#10;      padding: 12,&#10;      display: 'flex',&#10;      alignItems: 'center',&#10;      justifyContent: 'center',&#10;    }}&gt;&#10;      &lt;Image&#10;        src=&quot;assets/overview.png&quot;&#10;        style={{ width: '100%', objectFit: 'contain', borderRadius: 6 }}&#10;     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矩形 3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381000" y="381000"/>
            <a:ext cx="7162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0EA5E9"/>
                </a:solidFill>
                <a:latin typeface="Microsoft YaHei"/>
                <a:ea typeface="Microsoft YaHei"/>
              </a:rPr>
              <a:t>03 </a:t>
            </a:r>
            <a:r>
              <a:rPr lang="zh-CN" sz="975" spc="150">
                <a:solidFill>
                  <a:srgbClr val="0EA5E9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381000" y="590550"/>
            <a:ext cx="71628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F3A8A"/>
                </a:solidFill>
                <a:latin typeface="Microsoft YaHei"/>
                <a:ea typeface="Microsoft YaHei"/>
              </a:rPr>
              <a:t>4 </a:t>
            </a:r>
            <a:r>
              <a:rPr lang="zh-CN" sz="2250" b="1">
                <a:solidFill>
                  <a:srgbClr val="1F3A8A"/>
                </a:solidFill>
                <a:latin typeface="Microsoft YaHei"/>
                <a:ea typeface="Microsoft YaHei"/>
              </a:rPr>
              <a:t>大能力把</a:t>
            </a:r>
            <a:r>
              <a:rPr lang="en-US" sz="2250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1F3A8A"/>
                </a:solidFill>
                <a:latin typeface="Microsoft YaHei"/>
                <a:ea typeface="Microsoft YaHei"/>
              </a:rPr>
              <a:t>秩序</a:t>
            </a:r>
            <a:r>
              <a:rPr lang="en-US" sz="2250" b="1">
                <a:solidFill>
                  <a:srgbClr val="1F3A8A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1F3A8A"/>
                </a:solidFill>
                <a:latin typeface="Microsoft YaHei"/>
                <a:ea typeface="Microsoft YaHei"/>
              </a:rPr>
              <a:t>建起来</a:t>
            </a:r>
            <a:endParaRPr/>
          </a:p>
        </p:txBody>
      </p:sp>
      <p:sp>
        <p:nvSpPr>
          <p:cNvPr id="377" name="矩形: 圆角 376"/>
          <p:cNvSpPr/>
          <p:nvPr/>
        </p:nvSpPr>
        <p:spPr>
          <a:xfrm>
            <a:off x="381000" y="1104900"/>
            <a:ext cx="71628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514350" y="1238250"/>
            <a:ext cx="6896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🔀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514350" y="1581150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3A8A"/>
                </a:solidFill>
                <a:latin typeface="Microsoft YaHei"/>
                <a:ea typeface="Microsoft YaHei"/>
              </a:rPr>
              <a:t>多上游路由</a:t>
            </a:r>
            <a:endParaRPr/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514350" y="1819275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一个网关背后挂任意多个模型服务</a:t>
            </a:r>
            <a:endParaRPr/>
          </a:p>
        </p:txBody>
      </p:sp>
      <p:sp>
        <p:nvSpPr>
          <p:cNvPr id="381" name="矩形: 圆角 380"/>
          <p:cNvSpPr/>
          <p:nvPr/>
        </p:nvSpPr>
        <p:spPr>
          <a:xfrm>
            <a:off x="381000" y="2266950"/>
            <a:ext cx="71628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514350" y="2400300"/>
            <a:ext cx="6896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🔑</a:t>
            </a:r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514350" y="2743200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3A8A"/>
                </a:solidFill>
                <a:latin typeface="Microsoft YaHei"/>
                <a:ea typeface="Microsoft YaHei"/>
              </a:rPr>
              <a:t>密钥管理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514350" y="2981325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按人发卡、明文回显、丢失一键重置</a:t>
            </a:r>
            <a:endParaRPr/>
          </a:p>
        </p:txBody>
      </p:sp>
      <p:sp>
        <p:nvSpPr>
          <p:cNvPr id="385" name="矩形: 圆角 384"/>
          <p:cNvSpPr/>
          <p:nvPr/>
        </p:nvSpPr>
        <p:spPr>
          <a:xfrm>
            <a:off x="381000" y="3429000"/>
            <a:ext cx="71628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514350" y="3562350"/>
            <a:ext cx="6896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📊</a:t>
            </a:r>
            <a:endParaRPr/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514350" y="3905250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3A8A"/>
                </a:solidFill>
                <a:latin typeface="Microsoft YaHei"/>
                <a:ea typeface="Microsoft YaHei"/>
              </a:rPr>
              <a:t>用量统计</a:t>
            </a:r>
            <a:endParaRPr/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514350" y="4143375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月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缓存命中，月底出报表</a:t>
            </a:r>
            <a:endParaRPr/>
          </a:p>
        </p:txBody>
      </p:sp>
      <p:sp>
        <p:nvSpPr>
          <p:cNvPr id="389" name="矩形: 圆角 388"/>
          <p:cNvSpPr/>
          <p:nvPr/>
        </p:nvSpPr>
        <p:spPr>
          <a:xfrm>
            <a:off x="381000" y="4591050"/>
            <a:ext cx="71628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514350" y="4724400"/>
            <a:ext cx="6896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💬</a:t>
            </a:r>
            <a:endParaRPr/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514350" y="5067300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3A8A"/>
                </a:solidFill>
                <a:latin typeface="Microsoft YaHei"/>
                <a:ea typeface="Microsoft YaHei"/>
              </a:rPr>
              <a:t>内置对话</a:t>
            </a:r>
            <a:endParaRPr/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514350" y="5305425"/>
            <a:ext cx="689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员工日常问答不需去外部网页</a:t>
            </a:r>
            <a:endParaRPr/>
          </a:p>
        </p:txBody>
      </p:sp>
      <p:sp>
        <p:nvSpPr>
          <p:cNvPr id="393" name="矩形: 圆角 392"/>
          <p:cNvSpPr/>
          <p:nvPr/>
        </p:nvSpPr>
        <p:spPr>
          <a:xfrm>
            <a:off x="7810500" y="381000"/>
            <a:ext cx="4000500" cy="6096000"/>
          </a:xfrm>
          <a:prstGeom prst="roundRect">
            <a:avLst>
              <a:gd name="adj" fmla="val 238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4" name="图片 393"/>
          <p:cNvPicPr>
            <a:picLocks noChangeAspect="1"/>
          </p:cNvPicPr>
          <p:nvPr/>
        </p:nvPicPr>
        <p:blipFill>
          <a:blip r:embed="rId2"/>
          <a:srcRect l="34890" r="34890"/>
          <a:stretch>
            <a:fillRect/>
          </a:stretch>
        </p:blipFill>
        <p:spPr>
          <a:xfrm>
            <a:off x="7924800" y="457200"/>
            <a:ext cx="3771900" cy="5867400"/>
          </a:xfrm>
          <a:prstGeom prst="roundRect">
            <a:avLst>
              <a:gd name="adj" fmla="val 1515"/>
            </a:avLst>
          </a:prstGeom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1F3A8A',&#10;    padding: 80,&#10;    display: 'flex',&#10;    flexDirection: 'column',&#10;    justifyContent: 'center',&#10;    alignItems: 'center',&#10;  }}&gt;&#10;    &lt;Text style={{&#10;      fontSize: 14,&#10;      color: '#0EA5E9',&#10;      letterSpacing: 4,&#10;      marginBottom: 24,&#10;    }}&gt;&#10;      PART 04&#10;    &lt;/Text&gt;&#10;    &lt;Text style={{&#10;      fontSize: 72,&#10;      fontWeight: 'bold',&#10;      color: '#FFFFFF',&#10;      textAlign: 'center',&#10;      marginBottom: 24,&#10;    }}&gt;&#10;      企业 AI 应用场景&#10;    &lt;/Text&gt;&#10;    &lt;Box style={{&#10;      width: 80,&#10;      height: 4,&#10;      backgroundColor: '#0EA5E9',&#10;      marginBottom: 24,&#10;    }} /&gt;&#10;    &lt;Text style={{&#10;      fontSize: 22,&#10;      color: '#CBD5E1',&#10;      textAlign: 'center',&#10;    }}&gt;&#10;      内网-自有大模型 vs 外网-云端大模型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矩形 3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5695950" y="2447925"/>
            <a:ext cx="809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0EA5E9"/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3457575" y="2838450"/>
            <a:ext cx="5276850" cy="8286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企业</a:t>
            </a: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应用场景</a:t>
            </a:r>
            <a:endParaRPr/>
          </a:p>
        </p:txBody>
      </p:sp>
      <p:sp>
        <p:nvSpPr>
          <p:cNvPr id="399" name="矩形 398"/>
          <p:cNvSpPr/>
          <p:nvPr/>
        </p:nvSpPr>
        <p:spPr>
          <a:xfrm>
            <a:off x="5715000" y="3895725"/>
            <a:ext cx="762000" cy="381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4371975" y="4162425"/>
            <a:ext cx="3448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内网</a:t>
            </a:r>
            <a:r>
              <a:rPr lang="en-US" sz="1650">
                <a:solidFill>
                  <a:srgbClr val="CBD5E1"/>
                </a:solidFill>
                <a:latin typeface="Microsoft YaHei"/>
                <a:ea typeface="Microsoft YaHei"/>
              </a:rPr>
              <a:t>-</a:t>
            </a: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自有大模型</a:t>
            </a:r>
            <a:r>
              <a:rPr lang="en-US" sz="1650">
                <a:solidFill>
                  <a:srgbClr val="CBD5E1"/>
                </a:solidFill>
                <a:latin typeface="Microsoft YaHei"/>
                <a:ea typeface="Microsoft YaHei"/>
              </a:rPr>
              <a:t> vs </a:t>
            </a: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外网</a:t>
            </a:r>
            <a:r>
              <a:rPr lang="en-US" sz="1650">
                <a:solidFill>
                  <a:srgbClr val="CBD5E1"/>
                </a:solidFill>
                <a:latin typeface="Microsoft YaHei"/>
                <a:ea typeface="Microsoft YaHei"/>
              </a:rPr>
              <a:t>-</a:t>
            </a: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云端大模型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column',&#10;  }}&gt;&#10;    &lt;Text style={{&#10;      fontSize: 14,&#10;      color: '#0EA5E9',&#10;      letterSpacing: 2,&#10;      marginBottom: 8,&#10;    }}&gt;&#10;      04 场景&#10;    &lt;/Text&gt;&#10;    &lt;Text style={{&#10;      fontSize: 36,&#10;      fontWeight: 'bold',&#10;      color: '#1F3A8A',&#10;      marginBottom: 8,&#10;    }}&gt;&#10;      什么数据放哪里？一张表说清&#10;    &lt;/Text&gt;&#10;    &lt;Text style={{&#10;      fontSize: 14,&#10;      color: '#64748B',&#10;      marginBottom: 24,&#10;    }}&gt;&#10;      决策原则：敏感度决定部署位置，不是能力决定&#10;    &lt;/Text&gt;&#10;&#10;    &lt;Box style={{&#10;      border: '1px solid #E2E8F0',&#10;      borderRadius: 12,&#10;      overflow: 'hidden',&#10;      flex: 1,&#10;    }}&gt;&#10;      &lt;Box style={{&#10;        display: 'flex',&#10;        backgroundColor: '#1F3A8A',&#10;        padding: '14px 20px',&#10;      }}&gt;&#10;        &lt;Text style={{ flex: 1.5, fontSize: 15, fontWeight: 'bold', color: '#FFFFFF' }}&gt;数据类型&lt;/Text&gt;&#10;        &lt;Text style={{ flex: 1, fontSize: 15, fontWeight: 'bold', color: '#FFFFFF' }}&gt;推荐部署&lt;/Text&gt;&#10;        &lt;Text style={{ flex: 2.5, fontSize: 15, fontWeight: 'bold', color: '#FFFFFF' }}&gt;理由&lt;/Text&gt;&#10;      &lt;/Box&gt;&#10;&#10;      {[&#10;        { data: '合同 / 法务 / 财务', place: '内网', color: '#1F3A8A', reason: '强合规、出域即风险' },&#10;        { data: '客户隐私数据', place: '内网', color: '#1F3A8A', reason: '个人信息保护法' },&#10;        { data: '内部代码 / 文档', place: '内网', color: '#1F3A8A', reason: '商业机密' },&#10;        { data: '创意文案 / 翻译', place: '外网', color: '#0EA5E9', reason: '通用能力优先' },&#10;        { data: '公开信息查询', place: '外网', color: '#0EA5E9', reason: '无敏感性' },&#10;        { data: '复杂推理 / 编码', place: '视情况', color: '#F59E0B', reason: '取决于成本与隐私' },&#10;      ].map((row, idx) =&gt; (&#10;        &lt;Box key={idx} style={{&#10;          display: 'flex',&#10;          padding: '12px 20px',&#10;          backgroundColor: idx % 2 === 0 ? '#F8FAFC' : '#FFFFFF',&#10;          alignItems: 'center',&#10;        }}&gt;&#10;          &lt;Text style={{ flex: 1.5, fontSize: 15, color: '#1F3A8A', fontWeight: 'bold' }}&gt;{row.data}&lt;/Text&gt;&#10;          &lt;Box style={{ flex: 1 }}&gt;&#10;            &lt;Box style={{&#10;              display: 'inline-block',&#10;              backgroundColor: row.color,&#10;              padding: '4px 14px',&#10;              borderRadius: 16,&#10;            }}&gt;&#10;              &lt;Text style={{ fontSize: 13, color: '#FFFFFF', fontWeight: 'bold' }}&gt;{row.place}&lt;/Text&gt;&#10;            &lt;/Box&gt;&#10;          &lt;/Box&gt;&#10;          &lt;Text style={{ flex: 2.5, fontSize: 14, color: '#475569' }}&gt;{row.reason}&lt;/Text&gt;&#10;        &lt;/Box&gt;&#10;      ))}&#10;    &lt;/Box&gt;&#10;&#10;    &lt;Text style={{&#10;      fontSize: 20,&#10;      fontWeight: 'bold',&#10;      color: '#0EA5E9',&#10;      textAlign: 'center',&#10;      marginTop: 24,&#10;    }}&gt;&#10;      敏感度决定部署位置，不是能力决定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矩形 4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476250" y="476250"/>
            <a:ext cx="11239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04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476250" y="714375"/>
            <a:ext cx="112395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什么数据放哪里？一张表说清</a:t>
            </a:r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476250" y="1209675"/>
            <a:ext cx="11239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决策原则：敏感度决定部署位置，不是能力决定</a:t>
            </a:r>
            <a:endParaRPr/>
          </a:p>
        </p:txBody>
      </p:sp>
      <p:sp>
        <p:nvSpPr>
          <p:cNvPr id="406" name="矩形: 圆角 405"/>
          <p:cNvSpPr/>
          <p:nvPr/>
        </p:nvSpPr>
        <p:spPr>
          <a:xfrm>
            <a:off x="476250" y="1600200"/>
            <a:ext cx="11239500" cy="4324350"/>
          </a:xfrm>
          <a:prstGeom prst="roundRect">
            <a:avLst>
              <a:gd name="adj" fmla="val 2643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7" name="任意多边形: 形状 406"/>
          <p:cNvSpPr/>
          <p:nvPr/>
        </p:nvSpPr>
        <p:spPr>
          <a:xfrm>
            <a:off x="476250" y="1600200"/>
            <a:ext cx="11239500" cy="438150"/>
          </a:xfrm>
          <a:custGeom>
            <a:avLst/>
            <a:gdLst/>
            <a:ahLst/>
            <a:cxnLst/>
            <a:rect l="0" t="0" r="0" b="0"/>
            <a:pathLst>
              <a:path w="1180" h="46">
                <a:moveTo>
                  <a:pt x="1168" y="0"/>
                </a:moveTo>
                <a:cubicBezTo>
                  <a:pt x="1175" y="0"/>
                  <a:pt x="1180" y="5"/>
                  <a:pt x="1180" y="12"/>
                </a:cubicBezTo>
                <a:lnTo>
                  <a:pt x="1180" y="46"/>
                </a:lnTo>
                <a:lnTo>
                  <a:pt x="0" y="46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68" y="0"/>
                </a:lnTo>
                <a:close/>
              </a:path>
            </a:pathLst>
          </a:cu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666750" y="1733550"/>
            <a:ext cx="3257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数据类型</a:t>
            </a:r>
            <a:endParaRPr/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3924300" y="1733550"/>
            <a:ext cx="2171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推荐部署</a:t>
            </a:r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6096000" y="1733550"/>
            <a:ext cx="5429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理由</a:t>
            </a:r>
            <a:endParaRPr/>
          </a:p>
        </p:txBody>
      </p:sp>
      <p:sp>
        <p:nvSpPr>
          <p:cNvPr id="411" name="矩形 410"/>
          <p:cNvSpPr/>
          <p:nvPr/>
        </p:nvSpPr>
        <p:spPr>
          <a:xfrm>
            <a:off x="476250" y="2038350"/>
            <a:ext cx="112395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666750" y="2181225"/>
            <a:ext cx="3257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合同</a:t>
            </a: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法务</a:t>
            </a: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财务</a:t>
            </a:r>
            <a:endParaRPr/>
          </a:p>
        </p:txBody>
      </p:sp>
      <p:sp>
        <p:nvSpPr>
          <p:cNvPr id="413" name="矩形: 圆角 412"/>
          <p:cNvSpPr/>
          <p:nvPr/>
        </p:nvSpPr>
        <p:spPr>
          <a:xfrm>
            <a:off x="3924300" y="2152650"/>
            <a:ext cx="2171700" cy="228600"/>
          </a:xfrm>
          <a:prstGeom prst="roundRect">
            <a:avLst>
              <a:gd name="adj" fmla="val 66667"/>
            </a:avLst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4057650" y="2190750"/>
            <a:ext cx="1905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内网</a:t>
            </a:r>
            <a:endParaRPr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6096000" y="2190750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强合规、出域即风险</a:t>
            </a:r>
            <a:endParaRPr/>
          </a:p>
        </p:txBody>
      </p:sp>
      <p:sp>
        <p:nvSpPr>
          <p:cNvPr id="416" name="矩形 415"/>
          <p:cNvSpPr/>
          <p:nvPr/>
        </p:nvSpPr>
        <p:spPr>
          <a:xfrm>
            <a:off x="476250" y="2495550"/>
            <a:ext cx="112395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666750" y="2638425"/>
            <a:ext cx="3257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客户隐私数据</a:t>
            </a:r>
            <a:endParaRPr/>
          </a:p>
        </p:txBody>
      </p:sp>
      <p:sp>
        <p:nvSpPr>
          <p:cNvPr id="418" name="矩形: 圆角 417"/>
          <p:cNvSpPr/>
          <p:nvPr/>
        </p:nvSpPr>
        <p:spPr>
          <a:xfrm>
            <a:off x="3924300" y="2609850"/>
            <a:ext cx="2171700" cy="228600"/>
          </a:xfrm>
          <a:prstGeom prst="roundRect">
            <a:avLst>
              <a:gd name="adj" fmla="val 66667"/>
            </a:avLst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4057650" y="2647950"/>
            <a:ext cx="1905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内网</a:t>
            </a:r>
            <a:endParaRPr/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6096000" y="2647950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个人信息保护法</a:t>
            </a:r>
            <a:endParaRPr/>
          </a:p>
        </p:txBody>
      </p:sp>
      <p:sp>
        <p:nvSpPr>
          <p:cNvPr id="421" name="矩形 420"/>
          <p:cNvSpPr/>
          <p:nvPr/>
        </p:nvSpPr>
        <p:spPr>
          <a:xfrm>
            <a:off x="476250" y="2952750"/>
            <a:ext cx="112395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666750" y="3095625"/>
            <a:ext cx="3257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内部代码</a:t>
            </a: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文档</a:t>
            </a:r>
            <a:endParaRPr/>
          </a:p>
        </p:txBody>
      </p:sp>
      <p:sp>
        <p:nvSpPr>
          <p:cNvPr id="423" name="矩形: 圆角 422"/>
          <p:cNvSpPr/>
          <p:nvPr/>
        </p:nvSpPr>
        <p:spPr>
          <a:xfrm>
            <a:off x="3924300" y="3067050"/>
            <a:ext cx="2171700" cy="228600"/>
          </a:xfrm>
          <a:prstGeom prst="roundRect">
            <a:avLst>
              <a:gd name="adj" fmla="val 66667"/>
            </a:avLst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4057650" y="3105150"/>
            <a:ext cx="1905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内网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6096000" y="3105150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商业机密</a:t>
            </a:r>
            <a:endParaRPr/>
          </a:p>
        </p:txBody>
      </p:sp>
      <p:sp>
        <p:nvSpPr>
          <p:cNvPr id="426" name="矩形 425"/>
          <p:cNvSpPr/>
          <p:nvPr/>
        </p:nvSpPr>
        <p:spPr>
          <a:xfrm>
            <a:off x="476250" y="3409950"/>
            <a:ext cx="112395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666750" y="3552825"/>
            <a:ext cx="3257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创意文案</a:t>
            </a: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翻译</a:t>
            </a:r>
            <a:endParaRPr/>
          </a:p>
        </p:txBody>
      </p:sp>
      <p:sp>
        <p:nvSpPr>
          <p:cNvPr id="428" name="矩形: 圆角 427"/>
          <p:cNvSpPr/>
          <p:nvPr/>
        </p:nvSpPr>
        <p:spPr>
          <a:xfrm>
            <a:off x="3924300" y="3524250"/>
            <a:ext cx="2171700" cy="228600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4057650" y="3562350"/>
            <a:ext cx="1905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外网</a:t>
            </a:r>
            <a:endParaRPr/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6096000" y="3562350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通用能力优先</a:t>
            </a:r>
            <a:endParaRPr/>
          </a:p>
        </p:txBody>
      </p:sp>
      <p:sp>
        <p:nvSpPr>
          <p:cNvPr id="431" name="矩形 430"/>
          <p:cNvSpPr/>
          <p:nvPr/>
        </p:nvSpPr>
        <p:spPr>
          <a:xfrm>
            <a:off x="476250" y="3867150"/>
            <a:ext cx="112395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666750" y="4010025"/>
            <a:ext cx="3257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公开信息查询</a:t>
            </a:r>
            <a:endParaRPr/>
          </a:p>
        </p:txBody>
      </p:sp>
      <p:sp>
        <p:nvSpPr>
          <p:cNvPr id="433" name="矩形: 圆角 432"/>
          <p:cNvSpPr/>
          <p:nvPr/>
        </p:nvSpPr>
        <p:spPr>
          <a:xfrm>
            <a:off x="3924300" y="3981450"/>
            <a:ext cx="2171700" cy="228600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4057650" y="4019550"/>
            <a:ext cx="1905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外网</a:t>
            </a:r>
            <a:endParaRPr/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6096000" y="4019550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无敏感性</a:t>
            </a:r>
            <a:endParaRPr/>
          </a:p>
        </p:txBody>
      </p:sp>
      <p:sp>
        <p:nvSpPr>
          <p:cNvPr id="436" name="矩形 435"/>
          <p:cNvSpPr/>
          <p:nvPr/>
        </p:nvSpPr>
        <p:spPr>
          <a:xfrm>
            <a:off x="476250" y="4324350"/>
            <a:ext cx="112395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666750" y="4467225"/>
            <a:ext cx="3257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复杂推理</a:t>
            </a: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编码</a:t>
            </a:r>
            <a:endParaRPr/>
          </a:p>
        </p:txBody>
      </p:sp>
      <p:sp>
        <p:nvSpPr>
          <p:cNvPr id="438" name="矩形: 圆角 437"/>
          <p:cNvSpPr/>
          <p:nvPr/>
        </p:nvSpPr>
        <p:spPr>
          <a:xfrm>
            <a:off x="3924300" y="4438650"/>
            <a:ext cx="2171700" cy="228600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4057650" y="4476750"/>
            <a:ext cx="1905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视情况</a:t>
            </a:r>
            <a:endParaRPr/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6096000" y="4476750"/>
            <a:ext cx="5429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取决于成本与隐私</a:t>
            </a:r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476250" y="6153150"/>
            <a:ext cx="11239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0EA5E9"/>
                </a:solidFill>
                <a:latin typeface="Microsoft YaHei"/>
                <a:ea typeface="Microsoft YaHei"/>
              </a:rPr>
              <a:t>敏感度决定部署位置，不是能力决定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row',&#10;    gap: 32,&#10;  }}&gt;&#10;    &lt;Box style={{ flex: 1, display: 'flex', flexDirection: 'column' }}&gt;&#10;      &lt;Text style={{&#10;        fontSize: 14,&#10;        color: '#0EA5E9',&#10;        letterSpacing: 2,&#10;        marginBottom: 8,&#10;      }}&gt;&#10;        04 场景 A&#10;      &lt;/Text&gt;&#10;      &lt;Text style={{&#10;        fontSize: 36,&#10;        fontWeight: 'bold',&#10;        color: '#1F3A8A',&#10;        marginBottom: 8,&#10;      }}&gt;&#10;        内网：自有大模型&#10;      &lt;/Text&gt;&#10;      &lt;Text style={{&#10;        fontSize: 15,&#10;        color: '#64748B',&#10;        marginBottom: 20,&#10;      }}&gt;&#10;        部署 Ollama / vLLM 在内网，敏感数据不出域&#10;      &lt;/Text&gt;&#10;&#10;      &lt;Box style={{ marginBottom: 18 }}&gt;&#10;        &lt;Text style={{ fontSize: 16, fontWeight: 'bold', color: '#1F3A8A', marginBottom: 10 }}&gt;&#10;          适用场景&#10;        &lt;/Text&gt;&#10;        &lt;Box style={{ display: 'flex', flexDirection: 'row', flexWrap: 'wrap', gap: 8 }}&gt;&#10;          {['财务/法务合同', '内部代码助手', '客户数据脱敏前处理', '私有知识库 RAG'].map((s, i) =&gt; (&#10;            &lt;Box key={i} style={{&#10;              backgroundColor: '#DBEAFE',&#10;              padding: '4px 12px',&#10;              borderRadius: 12,&#10;            }}&gt;&#10;              &lt;Text style={{ fontSize: 13, color: '#1E40AF' }}&gt;{s}&lt;/Text&gt;&#10;            &lt;/Box&gt;&#10;          ))}&#10;        &lt;/Box&gt;&#10;      &lt;/Box&gt;&#10;&#10;      &lt;Box style={{ marginBottom: 16 }}&gt;&#10;        &lt;Text style={{ fontSize: 16, fontWeight: 'bold', color: '#1F3A8A', marginBottom: 8 }}&gt;&#10;          部署形态&#10;        &lt;/Text&gt;&#10;        &lt;Box style={{ display: 'flex', flexDirection: 'column', gap: 8 }}&gt;&#10;          &lt;Box style={{ display: 'flex', flexDirection: 'row', gap: 12, alignItems: 'flex-start' }}&gt;&#10;            &lt;Text style={{ fontSize: 16, color: '#10B981', fontWeight: 'bold' }}&gt;●&lt;/Text&gt;&#10;            &lt;Box&gt;&#10;              &lt;Text style={{ fontSize: 15, fontWeight: 'bold', color: '#1F3A8A' }}&gt;Ollama&lt;/Text&gt;&#10;              &lt;Text style={{ fontSize: 13, color: '#64748B' }}&gt;轻量、单机/小团队，适合 7B-14B 模型&lt;/Text&gt;&#10;            &lt;/Box&gt;&#10;          &lt;/Box&gt;&#10;          &lt;Box style={{ display: 'flex', flexDirection: 'row', gap: 12, alignItems: 'flex-start' }}&gt;&#10;            &lt;Text style={{ fontSize: 16, color: '#10B981', fontWeight: 'bold' }}&gt;●&lt;/Text&gt;&#10;            &lt;Box&gt;&#10;              &lt;Text style={{ fontSize: 15, fontWeight: 'bold', color: '#1F3A8A' }}&gt;vLLM&lt;/Text&gt;&#10;              &lt;Text style={{ fontSize: 13, color: '#64748B' }}&gt;高吞吐、集群，适合 70B+ 大模型或多卡&lt;/Text&gt;&#10;            &lt;/Box&gt;&#10;          &lt;/Box&gt;&#10;        &lt;/Box&gt;&#10;      &lt;/Box&gt;&#10;&#10;      &lt;Box style={{&#10;        backgroundColor: '#F8FAFC',&#10;        padding: 14,&#10;        borderRadius: 8,&#10;        borderLeft: '4px solid #1F3A8A',&#10;      }}&gt;&#10;        &lt;Text style={{ fontSize: 14, color: '#475569', lineHeight: 1.6 }}&gt;&#10;          &lt;span style={{ fontWeight: 'bold', color: '#1F3A8A' }}&gt;网关侧动作：&lt;/span&gt;&#10;          在&quot;上游管理&quot;添加内网地址 → 协议标 OpenAI → 方言自动透传 → 用量照常统计&#10;        &lt;/Text&gt;&#10;      &lt;/Box&gt;&#10;    &lt;/Box&gt;&#10;&#10;    &lt;Box style={{&#10;      width: 440,&#10;      backgroundColor: '#F1F5F9',&#10;      borderRadius: 12,&#10;      padding: 16,&#10;      display: 'flex',&#10;      alignItems: 'center',&#10;      justifyContent: 'center',&#10;    }}&gt;&#10;      &lt;Image&#10;        src=&quot;assets/provider.png&quot;&#10;        style={{ width: '100%', objectFit: 'contain', borderRadius: 8 }}&#10;     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476250" y="476250"/>
            <a:ext cx="6743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04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场景</a:t>
            </a: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 A</a:t>
            </a:r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476250" y="714375"/>
            <a:ext cx="67437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内网：自有大模型</a:t>
            </a:r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76250" y="1209675"/>
            <a:ext cx="6743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部署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Ollama / vLLM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在内网，敏感数据不出域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476250" y="1571625"/>
            <a:ext cx="6743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适用场景</a:t>
            </a:r>
            <a:endParaRPr/>
          </a:p>
        </p:txBody>
      </p:sp>
      <p:sp>
        <p:nvSpPr>
          <p:cNvPr id="16" name="矩形: 圆角 15"/>
          <p:cNvSpPr/>
          <p:nvPr/>
        </p:nvSpPr>
        <p:spPr>
          <a:xfrm>
            <a:off x="476250" y="1857375"/>
            <a:ext cx="102870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590550" y="1895475"/>
            <a:ext cx="800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1E40AF"/>
                </a:solidFill>
                <a:latin typeface="Microsoft YaHei"/>
                <a:ea typeface="Microsoft YaHei"/>
              </a:rPr>
              <a:t>财务</a:t>
            </a:r>
            <a:r>
              <a:rPr lang="en-US" sz="975">
                <a:solidFill>
                  <a:srgbClr val="1E40AF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1E40AF"/>
                </a:solidFill>
                <a:latin typeface="Microsoft YaHei"/>
                <a:ea typeface="Microsoft YaHei"/>
              </a:rPr>
              <a:t>法务合同</a:t>
            </a:r>
            <a:endParaRPr/>
          </a:p>
        </p:txBody>
      </p:sp>
      <p:sp>
        <p:nvSpPr>
          <p:cNvPr id="18" name="矩形: 圆角 17"/>
          <p:cNvSpPr/>
          <p:nvPr/>
        </p:nvSpPr>
        <p:spPr>
          <a:xfrm>
            <a:off x="1581150" y="1857375"/>
            <a:ext cx="97155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695450" y="1895475"/>
            <a:ext cx="742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1E40AF"/>
                </a:solidFill>
                <a:latin typeface="Microsoft YaHei"/>
                <a:ea typeface="Microsoft YaHei"/>
              </a:rPr>
              <a:t>内部代码助手</a:t>
            </a:r>
            <a:endParaRPr/>
          </a:p>
        </p:txBody>
      </p:sp>
      <p:sp>
        <p:nvSpPr>
          <p:cNvPr id="20" name="矩形: 圆角 19"/>
          <p:cNvSpPr/>
          <p:nvPr/>
        </p:nvSpPr>
        <p:spPr>
          <a:xfrm>
            <a:off x="2628900" y="1857375"/>
            <a:ext cx="1343025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2743200" y="1895475"/>
            <a:ext cx="111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1E40AF"/>
                </a:solidFill>
                <a:latin typeface="Microsoft YaHei"/>
                <a:ea typeface="Microsoft YaHei"/>
              </a:rPr>
              <a:t>客户数据脱敏前处理</a:t>
            </a:r>
            <a:endParaRPr/>
          </a:p>
        </p:txBody>
      </p:sp>
      <p:sp>
        <p:nvSpPr>
          <p:cNvPr id="22" name="矩形: 圆角 21"/>
          <p:cNvSpPr/>
          <p:nvPr/>
        </p:nvSpPr>
        <p:spPr>
          <a:xfrm>
            <a:off x="4048125" y="1857375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4162425" y="1895475"/>
            <a:ext cx="914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1E40AF"/>
                </a:solidFill>
                <a:latin typeface="Microsoft YaHei"/>
                <a:ea typeface="Microsoft YaHei"/>
              </a:rPr>
              <a:t>私有知识库</a:t>
            </a:r>
            <a:r>
              <a:rPr lang="en-US" sz="975">
                <a:solidFill>
                  <a:srgbClr val="1E40AF"/>
                </a:solidFill>
                <a:latin typeface="Microsoft YaHei"/>
                <a:ea typeface="Microsoft YaHei"/>
              </a:rPr>
              <a:t> RAG</a:t>
            </a:r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476250" y="2257425"/>
            <a:ext cx="6743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部署形态</a:t>
            </a:r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476250" y="2524125"/>
            <a:ext cx="1047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95325" y="2524125"/>
            <a:ext cx="2171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Ollama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95325" y="2695575"/>
            <a:ext cx="2171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轻量、单机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小团队，适合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7B-14B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476250" y="2924175"/>
            <a:ext cx="1047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695325" y="2924175"/>
            <a:ext cx="2247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vLLM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695325" y="3095625"/>
            <a:ext cx="2247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高吞吐、集群，适合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70B+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大模型或多卡</a:t>
            </a:r>
            <a:endParaRPr/>
          </a:p>
        </p:txBody>
      </p:sp>
      <p:sp>
        <p:nvSpPr>
          <p:cNvPr id="31" name="矩形: 圆角 30"/>
          <p:cNvSpPr/>
          <p:nvPr/>
        </p:nvSpPr>
        <p:spPr>
          <a:xfrm>
            <a:off x="514350" y="3400425"/>
            <a:ext cx="67437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任意多边形: 形状 31"/>
          <p:cNvSpPr/>
          <p:nvPr/>
        </p:nvSpPr>
        <p:spPr>
          <a:xfrm>
            <a:off x="514350" y="3400425"/>
            <a:ext cx="6743700" cy="523875"/>
          </a:xfrm>
          <a:custGeom>
            <a:avLst/>
            <a:gdLst/>
            <a:ahLst/>
            <a:cxnLst/>
            <a:rect l="0" t="0" r="0" b="0"/>
            <a:pathLst>
              <a:path w="708" h="5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1"/>
                </a:lnTo>
                <a:cubicBezTo>
                  <a:pt x="4" y="53"/>
                  <a:pt x="5" y="55"/>
                  <a:pt x="7" y="55"/>
                </a:cubicBezTo>
                <a:cubicBezTo>
                  <a:pt x="3" y="55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647700" y="3533775"/>
            <a:ext cx="64389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F3A8A"/>
                </a:solidFill>
                <a:latin typeface="Microsoft YaHei"/>
                <a:ea typeface="Microsoft YaHei"/>
              </a:rPr>
              <a:t>网关侧动作：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上游管理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添加内网地址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协议标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OpenAI →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方言自动透传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用量照常统计</a:t>
            </a:r>
            <a:endParaRPr/>
          </a:p>
        </p:txBody>
      </p:sp>
      <p:sp>
        <p:nvSpPr>
          <p:cNvPr id="34" name="矩形: 圆角 33"/>
          <p:cNvSpPr/>
          <p:nvPr/>
        </p:nvSpPr>
        <p:spPr>
          <a:xfrm>
            <a:off x="7524750" y="476250"/>
            <a:ext cx="4191000" cy="590550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rcRect l="33705" r="33705"/>
          <a:stretch>
            <a:fillRect/>
          </a:stretch>
        </p:blipFill>
        <p:spPr>
          <a:xfrm>
            <a:off x="7696200" y="638175"/>
            <a:ext cx="3886200" cy="5600700"/>
          </a:xfrm>
          <a:prstGeom prst="roundRect">
            <a:avLst>
              <a:gd name="adj" fmla="val 1961"/>
            </a:avLst>
          </a:prstGeom>
          <a:ln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row',&#10;    gap: 32,&#10;  }}&gt;&#10;    &lt;Box style={{ flex: 1, display: 'flex', flexDirection: 'column' }}&gt;&#10;      &lt;Text style={{&#10;        fontSize: 14,&#10;        color: '#0EA5E9',&#10;        letterSpacing: 2,&#10;        marginBottom: 8,&#10;      }}&gt;&#10;        04 场景 B&#10;      &lt;/Text&gt;&#10;      &lt;Text style={{&#10;        fontSize: 36,&#10;        fontWeight: 'bold',&#10;        color: '#1F3A8A',&#10;        marginBottom: 8,&#10;      }}&gt;&#10;        外网：云端大模型&#10;      &lt;/Text&gt;&#10;      &lt;Text style={{&#10;        fontSize: 15,&#10;        color: '#64748B',&#10;        marginBottom: 20,&#10;      }}&gt;&#10;        走网关接入云端 API，能力封顶&#10;      &lt;/Text&gt;&#10;&#10;      &lt;Box style={{ marginBottom: 18 }}&gt;&#10;        &lt;Text style={{ fontSize: 16, fontWeight: 'bold', color: '#1F3A8A', marginBottom: 10 }}&gt;&#10;          适用场景&#10;        &lt;/Text&gt;&#10;        &lt;Box style={{ display: 'flex', flexDirection: 'row', flexWrap: 'wrap', gap: 8 }}&gt;&#10;          {['通用问答', '翻译/写作', '复杂推理', '视觉/多模态'].map((s, i) =&gt; (&#10;            &lt;Box key={i} style={{&#10;              backgroundColor: '#E0F2FE',&#10;              padding: '4px 12px',&#10;              borderRadius: 12,&#10;            }}&gt;&#10;              &lt;Text style={{ fontSize: 13, color: '#075985' }}&gt;{s}&lt;/Text&gt;&#10;            &lt;/Box&gt;&#10;          ))}&#10;        &lt;/Box&gt;&#10;      &lt;/Box&gt;&#10;&#10;      &lt;Box style={{ marginBottom: 16 }}&gt;&#10;        &lt;Text style={{ fontSize: 16, fontWeight: 'bold', color: '#1F3A8A', marginBottom: 8 }}&gt;&#10;          接入厂商&#10;        &lt;/Text&gt;&#10;        &lt;Box style={{ display: 'flex', flexDirection: 'column', gap: 6 }}&gt;&#10;          {[&#10;            { name: 'DeepSeek', desc: '中文强 / 价格低' },&#10;            { name: '阿里百炼 / Qwen Plus', desc: '中文 / 企业级 SLA' },&#10;            { name: '智谱 GLM-4', desc: '推理强' },&#10;            { name: '其他 OpenAI 兼容端点', desc: '百川 / MiniMax 等' },&#10;          ].map((v, i) =&gt; (&#10;            &lt;Box key={i} style={{ display: 'flex', flexDirection: 'row', gap: 8, alignItems: 'center' }}&gt;&#10;              &lt;Text style={{ fontSize: 14, color: '#0EA5E9' }}&gt;◆&lt;/Text&gt;&#10;              &lt;Text style={{ fontSize: 14, fontWeight: 'bold', color: '#1F3A8A' }}&gt;{v.name}&lt;/Text&gt;&#10;              &lt;Text style={{ fontSize: 13, color: '#64748B' }}&gt;— {v.desc}&lt;/Text&gt;&#10;            &lt;/Box&gt;&#10;          ))}&#10;        &lt;/Box&gt;&#10;      &lt;/Box&gt;&#10;&#10;      &lt;Box style={{&#10;        backgroundColor: '#F8FAFC',&#10;        padding: 14,&#10;        borderRadius: 8,&#10;        borderLeft: '4px solid #0EA5E9',&#10;      }}&gt;&#10;        &lt;Text style={{ fontSize: 14, color: '#475569', lineHeight: 1.6 }}&gt;&#10;          &lt;span style={{ fontWeight: 'bold', color: '#1F3A8A' }}&gt;网关侧动作：&lt;/span&gt;&#10;          厂商 API Key 只存网关，&lt;span style={{ color: '#DC2626', fontWeight: 'bold' }}&gt;员工拿不到&lt;/span&gt;；可配置&quot;流式自动补 include_usage&quot;以保证 Ollama 这类上游的用量也被正确采集。&#10;        &lt;/Text&gt;&#10;      &lt;/Box&gt;&#10;    &lt;/Box&gt;&#10;&#10;    &lt;Box style={{&#10;      width: 440,&#10;      backgroundColor: '#F1F5F9',&#10;      borderRadius: 12,&#10;      padding: 16,&#10;      display: 'flex',&#10;      alignItems: 'center',&#10;      justifyContent: 'center',&#10;    }}&gt;&#10;      &lt;Image&#10;        src=&quot;assets/statistics.png&quot;&#10;        style={{ width: '100%', objectFit: 'contain', borderRadius: 8 }}&#10;     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76250" y="476250"/>
            <a:ext cx="6743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04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场景</a:t>
            </a: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 B</a:t>
            </a:r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76250" y="714375"/>
            <a:ext cx="67437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外网：云端大模型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76250" y="1209675"/>
            <a:ext cx="67437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走网关接入云端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API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，能力封顶</a:t>
            </a:r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76250" y="1571625"/>
            <a:ext cx="6743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适用场景</a:t>
            </a:r>
            <a:endParaRPr/>
          </a:p>
        </p:txBody>
      </p:sp>
      <p:sp>
        <p:nvSpPr>
          <p:cNvPr id="42" name="矩形: 圆角 41"/>
          <p:cNvSpPr/>
          <p:nvPr/>
        </p:nvSpPr>
        <p:spPr>
          <a:xfrm>
            <a:off x="476250" y="1857375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590550" y="1895475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075985"/>
                </a:solidFill>
                <a:latin typeface="Microsoft YaHei"/>
                <a:ea typeface="Microsoft YaHei"/>
              </a:rPr>
              <a:t>通用问答</a:t>
            </a:r>
            <a:endParaRPr/>
          </a:p>
        </p:txBody>
      </p:sp>
      <p:sp>
        <p:nvSpPr>
          <p:cNvPr id="44" name="矩形: 圆角 43"/>
          <p:cNvSpPr/>
          <p:nvPr/>
        </p:nvSpPr>
        <p:spPr>
          <a:xfrm>
            <a:off x="1276350" y="1857375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1390650" y="1895475"/>
            <a:ext cx="552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075985"/>
                </a:solidFill>
                <a:latin typeface="Microsoft YaHei"/>
                <a:ea typeface="Microsoft YaHei"/>
              </a:rPr>
              <a:t>翻译</a:t>
            </a:r>
            <a:r>
              <a:rPr lang="en-US" sz="975">
                <a:solidFill>
                  <a:srgbClr val="075985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075985"/>
                </a:solidFill>
                <a:latin typeface="Microsoft YaHei"/>
                <a:ea typeface="Microsoft YaHei"/>
              </a:rPr>
              <a:t>写作</a:t>
            </a:r>
            <a:endParaRPr/>
          </a:p>
        </p:txBody>
      </p:sp>
      <p:sp>
        <p:nvSpPr>
          <p:cNvPr id="46" name="矩形: 圆角 45"/>
          <p:cNvSpPr/>
          <p:nvPr/>
        </p:nvSpPr>
        <p:spPr>
          <a:xfrm>
            <a:off x="2133600" y="1857375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2247900" y="1895475"/>
            <a:ext cx="495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075985"/>
                </a:solidFill>
                <a:latin typeface="Microsoft YaHei"/>
                <a:ea typeface="Microsoft YaHei"/>
              </a:rPr>
              <a:t>复杂推理</a:t>
            </a:r>
            <a:endParaRPr/>
          </a:p>
        </p:txBody>
      </p:sp>
      <p:sp>
        <p:nvSpPr>
          <p:cNvPr id="48" name="矩形: 圆角 47"/>
          <p:cNvSpPr/>
          <p:nvPr/>
        </p:nvSpPr>
        <p:spPr>
          <a:xfrm>
            <a:off x="2933700" y="1857375"/>
            <a:ext cx="904875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3048000" y="1895475"/>
            <a:ext cx="6762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075985"/>
                </a:solidFill>
                <a:latin typeface="Microsoft YaHei"/>
                <a:ea typeface="Microsoft YaHei"/>
              </a:rPr>
              <a:t>视觉</a:t>
            </a:r>
            <a:r>
              <a:rPr lang="en-US" sz="975">
                <a:solidFill>
                  <a:srgbClr val="075985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075985"/>
                </a:solidFill>
                <a:latin typeface="Microsoft YaHei"/>
                <a:ea typeface="Microsoft YaHei"/>
              </a:rPr>
              <a:t>多模态</a:t>
            </a:r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476250" y="2257425"/>
            <a:ext cx="6743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接入厂商</a:t>
            </a:r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476250" y="252412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38175" y="2524125"/>
            <a:ext cx="666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F3A8A"/>
                </a:solidFill>
                <a:latin typeface="Microsoft YaHei"/>
                <a:ea typeface="Microsoft YaHei"/>
              </a:rPr>
              <a:t>DeepSeek</a:t>
            </a:r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1381125" y="2533650"/>
            <a:ext cx="1047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—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中文强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价格低</a:t>
            </a:r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476250" y="274320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638175" y="2743200"/>
            <a:ext cx="1381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3A8A"/>
                </a:solidFill>
                <a:latin typeface="Microsoft YaHei"/>
                <a:ea typeface="Microsoft YaHei"/>
              </a:rPr>
              <a:t>阿里百炼</a:t>
            </a:r>
            <a:r>
              <a:rPr lang="en-US" sz="1050" b="1">
                <a:solidFill>
                  <a:srgbClr val="1F3A8A"/>
                </a:solidFill>
                <a:latin typeface="Microsoft YaHei"/>
                <a:ea typeface="Microsoft YaHei"/>
              </a:rPr>
              <a:t> / Qwen Plus</a:t>
            </a:r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2095500" y="2752725"/>
            <a:ext cx="11811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—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中文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企业级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SLA</a:t>
            </a:r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76250" y="296227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38175" y="2962275"/>
            <a:ext cx="762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3A8A"/>
                </a:solidFill>
                <a:latin typeface="Microsoft YaHei"/>
                <a:ea typeface="Microsoft YaHei"/>
              </a:rPr>
              <a:t>智谱</a:t>
            </a:r>
            <a:r>
              <a:rPr lang="en-US" sz="1050" b="1">
                <a:solidFill>
                  <a:srgbClr val="1F3A8A"/>
                </a:solidFill>
                <a:latin typeface="Microsoft YaHei"/>
                <a:ea typeface="Microsoft YaHei"/>
              </a:rPr>
              <a:t> GLM-4</a:t>
            </a:r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1476375" y="2971800"/>
            <a:ext cx="542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—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推理强</a:t>
            </a:r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476250" y="318135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38175" y="31813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F3A8A"/>
                </a:solidFill>
                <a:latin typeface="Microsoft YaHei"/>
                <a:ea typeface="Microsoft YaHei"/>
              </a:rPr>
              <a:t>其他</a:t>
            </a:r>
            <a:r>
              <a:rPr lang="en-US" sz="1050" b="1">
                <a:solidFill>
                  <a:srgbClr val="1F3A8A"/>
                </a:solidFill>
                <a:latin typeface="Microsoft YaHei"/>
                <a:ea typeface="Microsoft YaHei"/>
              </a:rPr>
              <a:t> OpenAI </a:t>
            </a:r>
            <a:r>
              <a:rPr lang="zh-CN" sz="1050" b="1">
                <a:solidFill>
                  <a:srgbClr val="1F3A8A"/>
                </a:solidFill>
                <a:latin typeface="Microsoft YaHei"/>
                <a:ea typeface="Microsoft YaHei"/>
              </a:rPr>
              <a:t>兼容端点</a:t>
            </a:r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2105025" y="3190875"/>
            <a:ext cx="1228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—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百川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MiniMax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等</a:t>
            </a:r>
            <a:endParaRPr/>
          </a:p>
        </p:txBody>
      </p:sp>
      <p:sp>
        <p:nvSpPr>
          <p:cNvPr id="63" name="矩形: 圆角 62"/>
          <p:cNvSpPr/>
          <p:nvPr/>
        </p:nvSpPr>
        <p:spPr>
          <a:xfrm>
            <a:off x="514350" y="3495675"/>
            <a:ext cx="67437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任意多边形: 形状 63"/>
          <p:cNvSpPr/>
          <p:nvPr/>
        </p:nvSpPr>
        <p:spPr>
          <a:xfrm>
            <a:off x="514350" y="3495675"/>
            <a:ext cx="6743700" cy="781050"/>
          </a:xfrm>
          <a:custGeom>
            <a:avLst/>
            <a:gdLst/>
            <a:ahLst/>
            <a:cxnLst/>
            <a:rect l="0" t="0" r="0" b="0"/>
            <a:pathLst>
              <a:path w="708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647700" y="3629025"/>
            <a:ext cx="64389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F3A8A"/>
                </a:solidFill>
                <a:latin typeface="Microsoft YaHei"/>
                <a:ea typeface="Microsoft YaHei"/>
              </a:rPr>
              <a:t>网关侧动作：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厂商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API Key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只存网关，</a:t>
            </a:r>
            <a:r>
              <a:rPr lang="zh-CN" sz="1050" b="1">
                <a:solidFill>
                  <a:srgbClr val="DC2626"/>
                </a:solidFill>
                <a:latin typeface="Microsoft YaHei"/>
                <a:ea typeface="Microsoft YaHei"/>
              </a:rPr>
              <a:t>员工拿不到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；可配置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流式自动补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include_usage"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以保证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Ollama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这类上游的用量也被正确采集。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7524750" y="476250"/>
            <a:ext cx="4191000" cy="590550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32F940-D72C-765F-FB6A-D30FF69B33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05" r="33705"/>
          <a:stretch>
            <a:fillRect/>
          </a:stretch>
        </p:blipFill>
        <p:spPr>
          <a:xfrm>
            <a:off x="7696200" y="638175"/>
            <a:ext cx="3886200" cy="5600700"/>
          </a:xfrm>
          <a:prstGeom prst="roundRect">
            <a:avLst>
              <a:gd name="adj" fmla="val 1961"/>
            </a:avLst>
          </a:prstGeom>
          <a:ln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1F3A8A',&#10;    padding: 80,&#10;    display: 'flex',&#10;    flexDirection: 'column',&#10;    justifyContent: 'center',&#10;    alignItems: 'center',&#10;  }}&gt;&#10;    &lt;Text style={{&#10;      fontSize: 14,&#10;      color: '#0EA5E9',&#10;      letterSpacing: 4,&#10;      marginBottom: 24,&#10;    }}&gt;&#10;      PART 05&#10;    &lt;/Text&gt;&#10;    &lt;Text style={{&#10;      fontSize: 72,&#10;      fontWeight: 'bold',&#10;      color: '#FFFFFF',&#10;      textAlign: 'center',&#10;      marginBottom: 24,&#10;    }}&gt;&#10;      企业 AI 应用落地&#10;    &lt;/Text&gt;&#10;    &lt;Box style={{&#10;      width: 80,&#10;      height: 4,&#10;      backgroundColor: '#0EA5E9',&#10;      marginBottom: 32,&#10;    }} /&gt;&#10;    &lt;Text style={{&#10;      fontSize: 20,&#10;      color: '#CBD5E1',&#10;      textAlign: 'center',&#10;      marginBottom: 40,&#10;    }}&gt;&#10;      5 个关键抓手，让网关从&quot;装上&quot;到&quot;用顺&quot;&#10;    &lt;/Text&gt;&#10;    &lt;Box style={{&#10;      display: 'flex',&#10;      flexDirection: 'row',&#10;      gap: 12,&#10;    }}&gt;&#10;      {[&#10;        '① 环境部署',&#10;        '② 管理大模型',&#10;        '③ 人员 SK 分配',&#10;        '④ CC Switch 集成',&#10;        '⑤ 用量管控',&#10;      ].map((label, i) =&gt; (&#10;        &lt;Box key={i} style={{&#10;          backgroundColor: 'rgba(14, 165, 233, 0.15)',&#10;          border: '1px solid #0EA5E9',&#10;          padding: '8px 16px',&#10;          borderRadius: 20,&#10;        }}&gt;&#10;          &lt;Text style={{ fontSize: 14, color: '#FFFFFF' }}&gt;{label}&lt;/Text&gt;&#10;        &lt;/Box&gt;&#10;      ))}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5695950" y="2076450"/>
            <a:ext cx="809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0EA5E9"/>
                </a:solidFill>
                <a:latin typeface="Microsoft YaHei"/>
                <a:ea typeface="Microsoft YaHei"/>
              </a:rPr>
              <a:t>PART 05</a:t>
            </a:r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3457575" y="2466975"/>
            <a:ext cx="5276850" cy="8286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企业</a:t>
            </a: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应用落地</a:t>
            </a:r>
            <a:endParaRPr/>
          </a:p>
        </p:txBody>
      </p:sp>
      <p:sp>
        <p:nvSpPr>
          <p:cNvPr id="72" name="矩形 71"/>
          <p:cNvSpPr/>
          <p:nvPr/>
        </p:nvSpPr>
        <p:spPr>
          <a:xfrm>
            <a:off x="5715000" y="3524250"/>
            <a:ext cx="762000" cy="381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4419600" y="3867150"/>
            <a:ext cx="33623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500">
                <a:solidFill>
                  <a:srgbClr val="CBD5E1"/>
                </a:solidFill>
                <a:latin typeface="Microsoft YaHei"/>
                <a:ea typeface="Microsoft YaHei"/>
              </a:rPr>
              <a:t>5 </a:t>
            </a:r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个关键抓手，让网关从</a:t>
            </a:r>
            <a:r>
              <a:rPr lang="en-US" sz="1500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装上</a:t>
            </a:r>
            <a:r>
              <a:rPr lang="en-US" sz="1500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到</a:t>
            </a:r>
            <a:r>
              <a:rPr lang="en-US" sz="1500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CBD5E1"/>
                </a:solidFill>
                <a:latin typeface="Microsoft YaHei"/>
                <a:ea typeface="Microsoft YaHei"/>
              </a:rPr>
              <a:t>用顺</a:t>
            </a:r>
            <a:r>
              <a:rPr lang="en-US" sz="1500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74" name="矩形: 圆角 73"/>
          <p:cNvSpPr/>
          <p:nvPr/>
        </p:nvSpPr>
        <p:spPr>
          <a:xfrm>
            <a:off x="2933700" y="4476750"/>
            <a:ext cx="1019175" cy="314325"/>
          </a:xfrm>
          <a:prstGeom prst="roundRect">
            <a:avLst>
              <a:gd name="adj" fmla="val 60606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3086100" y="4552950"/>
            <a:ext cx="714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环境部署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4067175" y="4476750"/>
            <a:ext cx="1152525" cy="314325"/>
          </a:xfrm>
          <a:prstGeom prst="roundRect">
            <a:avLst>
              <a:gd name="adj" fmla="val 60606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4219575" y="4552950"/>
            <a:ext cx="847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②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管理大模型</a:t>
            </a:r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5334000" y="4476750"/>
            <a:ext cx="1257300" cy="314325"/>
          </a:xfrm>
          <a:prstGeom prst="roundRect">
            <a:avLst>
              <a:gd name="adj" fmla="val 60606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5486400" y="4552950"/>
            <a:ext cx="952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人员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 SK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分配</a:t>
            </a:r>
            <a:endParaRPr/>
          </a:p>
        </p:txBody>
      </p:sp>
      <p:sp>
        <p:nvSpPr>
          <p:cNvPr id="80" name="矩形: 圆角 79"/>
          <p:cNvSpPr/>
          <p:nvPr/>
        </p:nvSpPr>
        <p:spPr>
          <a:xfrm>
            <a:off x="6705600" y="4476750"/>
            <a:ext cx="1419225" cy="314325"/>
          </a:xfrm>
          <a:prstGeom prst="roundRect">
            <a:avLst>
              <a:gd name="adj" fmla="val 60606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6858000" y="4552950"/>
            <a:ext cx="1114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④ CC Switch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82" name="矩形: 圆角 81"/>
          <p:cNvSpPr/>
          <p:nvPr/>
        </p:nvSpPr>
        <p:spPr>
          <a:xfrm>
            <a:off x="8239125" y="4476750"/>
            <a:ext cx="1019175" cy="314325"/>
          </a:xfrm>
          <a:prstGeom prst="roundRect">
            <a:avLst>
              <a:gd name="adj" fmla="val 60606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8391525" y="4552950"/>
            <a:ext cx="714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⑤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用量管控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row',&#10;    gap: 32,&#10;  }}&gt;&#10;    &lt;Box style={{ flex: 1, display: 'flex', flexDirection: 'column' }}&gt;&#10;      &lt;Box style={{ display: 'flex', flexDirection: 'row', alignItems: 'center', gap: 12, marginBottom: 8 }}&gt;&#10;        &lt;Text style={{ fontSize: 14, color: '#0EA5E9', letterSpacing: 2 }}&gt;&#10;          05 落地&#10;        &lt;/Text&gt;&#10;        &lt;Box style={{&#10;          backgroundColor: '#10B981',&#10;          padding: '3px 10px',&#10;          borderRadius: 10,&#10;        }}&gt;&#10;          &lt;Text style={{ fontSize: 12, color: '#FFFFFF', fontWeight: 'bold' }}&gt;✅ 已实现&lt;/Text&gt;&#10;        &lt;/Box&gt;&#10;      &lt;/Box&gt;&#10;      &lt;Text style={{&#10;        fontSize: 36,&#10;        fontWeight: 'bold',&#10;        color: '#1F3A8A',&#10;        marginBottom: 8,&#10;      }}&gt;&#10;        ① 环境部署&#10;      &lt;/Text&gt;&#10;      &lt;Text style={{&#10;        fontSize: 16,&#10;        color: '#475569',&#10;        marginBottom: 24,&#10;      }}&gt;&#10;        5 分钟从零到可用，三种部署方式任选&#10;      &lt;/Text&gt;&#10;&#10;      &lt;Box style={{ display: 'flex', flexDirection: 'column', gap: 16, flex: 1 }}&gt;&#10;        &lt;Box style={{&#10;          backgroundColor: '#F8FAFC',&#10;          padding: 16,&#10;          borderRadius: 8,&#10;          borderLeft: '4px solid #1F3A8A',&#10;        }}&gt;&#10;          &lt;Text style={{ fontSize: 15, fontWeight: 'bold', color: '#1F3A8A', marginBottom: 8 }}&gt;&#10;            🐳 Docker（推荐）&#10;          &lt;/Text&gt;&#10;          &lt;Box style={{ backgroundColor: '#0F172A', padding: 12, borderRadius: 6 }}&gt;&#10;            &lt;Text style={{ fontSize: 11, color: '#E2E8F0', fontFamily: 'monospace', lineHeight: 1.6 }}&gt;&#10;              &lt;span style={{ color: '#0EA5E9' }}&gt;docker&lt;/span&gt; build -t llm-api-gateway .{&quot;\n&quot;}&#10;              &lt;span style={{ color: '#0EA5E9' }}&gt;docker&lt;/span&gt; run -d -p 9000:9000 \{&quot;\n&quot;}&#10;              {&quot;  &quot;}-e MASTER_KEY=&lt;span style={{ color: '#10B981' }}&gt;你的密码&lt;/span&gt; \{&quot;\n&quot;}&#10;              {&quot;  &quot;}-v &quot;$PWD/data:/app/data&quot; llm-api-gateway&#10;            &lt;/Text&gt;&#10;          &lt;/Box&gt;&#10;        &lt;/Box&gt;&#10;&#10;        &lt;Box style={{&#10;          backgroundColor: '#F8FAFC',&#10;          padding: 16,&#10;          borderRadius: 8,&#10;          borderLeft: '4px solid #0EA5E9',&#10;        }}&gt;&#10;          &lt;Text style={{ fontSize: 15, fontWeight: 'bold', color: '#1F3A8A', marginBottom: 8 }}&gt;&#10;            💻 裸机（最简单）&#10;          &lt;/Text&gt;&#10;          &lt;Box style={{ backgroundColor: '#0F172A', padding: 12, borderRadius: 6 }}&gt;&#10;            &lt;Text style={{ fontSize: 11, color: '#E2E8F0', fontFamily: 'monospace', lineHeight: 1.6 }}&gt;&#10;              &lt;span style={{ color: '#0EA5E9' }}&gt;cd&lt;/span&gt; proxy{&quot;\n&quot;}&#10;              pip install -r requirements.txt{&quot;\n&quot;}&#10;              &lt;span style={{ color: '#0EA5E9' }}&gt;python&lt;/span&gt; main.py&#10;            &lt;/Text&gt;&#10;          &lt;/Box&gt;&#10;        &lt;/Box&gt;&#10;&#10;        &lt;Box style={{&#10;          backgroundColor: '#F8FAFC',&#10;          padding: 16,&#10;          borderRadius: 8,&#10;          borderLeft: '4px solid #475569',&#10;        }}&gt;&#10;          &lt;Text style={{ fontSize: 15, fontWeight: 'bold', color: '#1F3A8A', marginBottom: 6 }}&gt;&#10;            📦 离线部署包&#10;          &lt;/Text&gt;&#10;          &lt;Text style={{ fontSize: 13, color: '#64748B', lineHeight: 1.5 }}&gt;&#10;            内网无外网场景：pip 依赖本地化、前端 vendor 本地打包，断网环境照常跑&#10;          &lt;/Text&gt;&#10;        &lt;/Box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476250" y="4953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05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落地</a:t>
            </a:r>
            <a:endParaRPr/>
          </a:p>
        </p:txBody>
      </p:sp>
      <p:sp>
        <p:nvSpPr>
          <p:cNvPr id="87" name="矩形: 圆角 86"/>
          <p:cNvSpPr/>
          <p:nvPr/>
        </p:nvSpPr>
        <p:spPr>
          <a:xfrm>
            <a:off x="1152525" y="476250"/>
            <a:ext cx="733425" cy="200025"/>
          </a:xfrm>
          <a:prstGeom prst="roundRect">
            <a:avLst>
              <a:gd name="adj" fmla="val 4761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247775" y="504825"/>
            <a:ext cx="5429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✅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已实现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476250" y="752475"/>
            <a:ext cx="112395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① </a:t>
            </a: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环境部署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476250" y="1247775"/>
            <a:ext cx="11239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5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分钟从零到可用，三种部署方式任选</a:t>
            </a:r>
            <a:endParaRPr/>
          </a:p>
        </p:txBody>
      </p:sp>
      <p:sp>
        <p:nvSpPr>
          <p:cNvPr id="91" name="矩形: 圆角 90"/>
          <p:cNvSpPr/>
          <p:nvPr/>
        </p:nvSpPr>
        <p:spPr>
          <a:xfrm>
            <a:off x="514350" y="1666875"/>
            <a:ext cx="11239500" cy="1590675"/>
          </a:xfrm>
          <a:prstGeom prst="roundRect">
            <a:avLst>
              <a:gd name="adj" fmla="val 479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任意多边形: 形状 91"/>
          <p:cNvSpPr/>
          <p:nvPr/>
        </p:nvSpPr>
        <p:spPr>
          <a:xfrm>
            <a:off x="514350" y="1666875"/>
            <a:ext cx="11239500" cy="1590675"/>
          </a:xfrm>
          <a:custGeom>
            <a:avLst/>
            <a:gdLst/>
            <a:ahLst/>
            <a:cxnLst/>
            <a:rect l="0" t="0" r="0" b="0"/>
            <a:pathLst>
              <a:path w="1180" h="16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3"/>
                </a:lnTo>
                <a:cubicBezTo>
                  <a:pt x="4" y="165"/>
                  <a:pt x="5" y="167"/>
                  <a:pt x="7" y="167"/>
                </a:cubicBezTo>
                <a:cubicBezTo>
                  <a:pt x="3" y="167"/>
                  <a:pt x="0" y="163"/>
                  <a:pt x="0" y="15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666750" y="1819275"/>
            <a:ext cx="10896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🐳 Docker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（推荐）</a:t>
            </a:r>
            <a:endParaRPr/>
          </a:p>
        </p:txBody>
      </p:sp>
      <p:sp>
        <p:nvSpPr>
          <p:cNvPr id="94" name="矩形: 圆角 93"/>
          <p:cNvSpPr/>
          <p:nvPr/>
        </p:nvSpPr>
        <p:spPr>
          <a:xfrm>
            <a:off x="666750" y="2066925"/>
            <a:ext cx="10896600" cy="1038225"/>
          </a:xfrm>
          <a:prstGeom prst="roundRect">
            <a:avLst>
              <a:gd name="adj" fmla="val 550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781050" y="2181225"/>
            <a:ext cx="10668000" cy="809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825">
                <a:solidFill>
                  <a:srgbClr val="0EA5E9"/>
                </a:solidFill>
                <a:latin typeface="monospace"/>
                <a:ea typeface="monospace"/>
              </a:rPr>
              <a:t>docker</a:t>
            </a: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 build -t llm-api-gateway .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0EA5E9"/>
                </a:solidFill>
                <a:latin typeface="monospace"/>
                <a:ea typeface="monospace"/>
              </a:rPr>
              <a:t>docker</a:t>
            </a: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 run -d -p 9000:9000 \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  -e MASTER_KEY=</a:t>
            </a:r>
            <a:r>
              <a:rPr lang="zh-CN" sz="825">
                <a:solidFill>
                  <a:srgbClr val="10B981"/>
                </a:solidFill>
                <a:latin typeface="monospace"/>
                <a:ea typeface="monospace"/>
              </a:rPr>
              <a:t>你的密码</a:t>
            </a: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 \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  -v "$PWD/data:/app/data" llm-api-gateway</a:t>
            </a:r>
            <a:endParaRPr/>
          </a:p>
        </p:txBody>
      </p:sp>
      <p:sp>
        <p:nvSpPr>
          <p:cNvPr id="96" name="矩形: 圆角 95"/>
          <p:cNvSpPr/>
          <p:nvPr/>
        </p:nvSpPr>
        <p:spPr>
          <a:xfrm>
            <a:off x="514350" y="3409950"/>
            <a:ext cx="11239500" cy="1390650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" name="任意多边形: 形状 96"/>
          <p:cNvSpPr/>
          <p:nvPr/>
        </p:nvSpPr>
        <p:spPr>
          <a:xfrm>
            <a:off x="514350" y="3409950"/>
            <a:ext cx="11239500" cy="1390650"/>
          </a:xfrm>
          <a:custGeom>
            <a:avLst/>
            <a:gdLst/>
            <a:ahLst/>
            <a:cxnLst/>
            <a:rect l="0" t="0" r="0" b="0"/>
            <a:pathLst>
              <a:path w="1180" h="14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2"/>
                </a:lnTo>
                <a:cubicBezTo>
                  <a:pt x="4" y="144"/>
                  <a:pt x="5" y="146"/>
                  <a:pt x="7" y="146"/>
                </a:cubicBezTo>
                <a:cubicBezTo>
                  <a:pt x="3" y="146"/>
                  <a:pt x="0" y="142"/>
                  <a:pt x="0" y="1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666750" y="3562350"/>
            <a:ext cx="10896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💻 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裸机（最简单）</a:t>
            </a:r>
            <a:endParaRPr/>
          </a:p>
        </p:txBody>
      </p:sp>
      <p:sp>
        <p:nvSpPr>
          <p:cNvPr id="99" name="矩形: 圆角 98"/>
          <p:cNvSpPr/>
          <p:nvPr/>
        </p:nvSpPr>
        <p:spPr>
          <a:xfrm>
            <a:off x="666750" y="3810000"/>
            <a:ext cx="10896600" cy="83820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81050" y="3924300"/>
            <a:ext cx="10668000" cy="609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825">
                <a:solidFill>
                  <a:srgbClr val="0EA5E9"/>
                </a:solidFill>
                <a:latin typeface="monospace"/>
                <a:ea typeface="monospace"/>
              </a:rPr>
              <a:t>cd</a:t>
            </a: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 proxy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pip install -r requirements.txt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0EA5E9"/>
                </a:solidFill>
                <a:latin typeface="monospace"/>
                <a:ea typeface="monospace"/>
              </a:rPr>
              <a:t>python</a:t>
            </a:r>
            <a:r>
              <a:rPr lang="en-US" sz="825">
                <a:solidFill>
                  <a:srgbClr val="E2E8F0"/>
                </a:solidFill>
                <a:latin typeface="monospace"/>
                <a:ea typeface="monospace"/>
              </a:rPr>
              <a:t> main.py</a:t>
            </a:r>
            <a:endParaRPr/>
          </a:p>
        </p:txBody>
      </p:sp>
      <p:sp>
        <p:nvSpPr>
          <p:cNvPr id="101" name="矩形: 圆角 100"/>
          <p:cNvSpPr/>
          <p:nvPr/>
        </p:nvSpPr>
        <p:spPr>
          <a:xfrm>
            <a:off x="514350" y="4953000"/>
            <a:ext cx="1123950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" name="任意多边形: 形状 101"/>
          <p:cNvSpPr/>
          <p:nvPr/>
        </p:nvSpPr>
        <p:spPr>
          <a:xfrm>
            <a:off x="514350" y="4953000"/>
            <a:ext cx="11239500" cy="762000"/>
          </a:xfrm>
          <a:custGeom>
            <a:avLst/>
            <a:gdLst/>
            <a:ahLst/>
            <a:cxnLst/>
            <a:rect l="0" t="0" r="0" b="0"/>
            <a:pathLst>
              <a:path w="1180" h="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6"/>
                </a:lnTo>
                <a:cubicBezTo>
                  <a:pt x="4" y="78"/>
                  <a:pt x="5" y="80"/>
                  <a:pt x="7" y="80"/>
                </a:cubicBezTo>
                <a:cubicBezTo>
                  <a:pt x="3" y="80"/>
                  <a:pt x="0" y="76"/>
                  <a:pt x="0" y="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755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666750" y="5105400"/>
            <a:ext cx="10896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📦 </a:t>
            </a: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离线部署包</a:t>
            </a:r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66750" y="5334000"/>
            <a:ext cx="108966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内网无外网场景：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pip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依赖本地化、前端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vendor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本地打包，断网环境照常跑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row',&#10;    gap: 32,&#10;  }}&gt;&#10;    &lt;Box style={{ flex: 1, display: 'flex', flexDirection: 'column' }}&gt;&#10;      &lt;Box style={{ display: 'flex', flexDirection: 'row', alignItems: 'center', gap: 12, marginBottom: 8 }}&gt;&#10;        &lt;Text style={{ fontSize: 14, color: '#0EA5E9', letterSpacing: 2 }}&gt;&#10;          05 落地&#10;        &lt;/Text&gt;&#10;        &lt;Box style={{&#10;          backgroundColor: '#10B981',&#10;          padding: '3px 10px',&#10;          borderRadius: 10,&#10;        }}&gt;&#10;          &lt;Text style={{ fontSize: 12, color: '#FFFFFF', fontWeight: 'bold' }}&gt;✅ 已实现&lt;/Text&gt;&#10;        &lt;/Box&gt;&#10;      &lt;/Box&gt;&#10;      &lt;Text style={{&#10;        fontSize: 36,&#10;        fontWeight: 'bold',&#10;        color: '#1F3A8A',&#10;        marginBottom: 8,&#10;      }}&gt;&#10;        ② 管理大模型&#10;      &lt;/Text&gt;&#10;      &lt;Text style={{&#10;        fontSize: 16,&#10;        color: '#475569',&#10;        marginBottom: 24,&#10;      }}&gt;&#10;        多上游 + 协议翻译 = 告别供应商绑架&#10;      &lt;/Text&gt;&#10;&#10;      &lt;Box style={{ display: 'flex', flexDirection: 'column', gap: 14, flex: 1 }}&gt;&#10;        {[&#10;          {&#10;            icon: '🌐',&#10;            title: '同时挂任意多个上游',&#10;            desc: '本地 Ollama / 本地 vLLM / DeepSeek 云端 / 智谱 / 任何 OpenAI 兼容端点',&#10;          },&#10;          {&#10;            icon: '🔁',&#10;            title: '协议自动翻译',&#10;            desc: '标注 OpenAI / Anthropic 方言，网关自动完成请求/响应双向翻译',&#10;          },&#10;          {&#10;            icon: '🔗',&#10;            title: '密钥绑定上游',&#10;            desc: '每把 sk- 独立路由到指定模型；未绑定时走默认上游',&#10;          },&#10;          {&#10;            icon: '⚡',&#10;            title: '流式 SSE 透传',&#10;            desc: '不破坏客户端体验，长连接/打字机效果原样保留',&#10;          },&#10;        ].map((item, i) =&gt; (&#10;          &lt;Box key={i} style={{&#10;            display: 'flex',&#10;            flexDirection: 'row',&#10;            gap: 14,&#10;            alignItems: 'flex-start',&#10;            backgroundColor: '#F8FAFC',&#10;            padding: 14,&#10;            borderRadius: 8,&#10;          }}&gt;&#10;            &lt;Text style={{ fontSize: 24 }}&gt;{item.icon}&lt;/Text&gt;&#10;            &lt;Box&gt;&#10;              &lt;Text style={{ fontSize: 16, fontWeight: 'bold', color: '#1F3A8A', marginBottom: 4 }}&gt;&#10;                {item.title}&#10;              &lt;/Text&gt;&#10;              &lt;Text style={{ fontSize: 13, color: '#64748B', lineHeight: 1.5 }}&gt;&#10;                {item.desc}&#10;              &lt;/Text&gt;&#10;            &lt;/Box&gt;&#10;          &lt;/Box&gt;&#10;        ))}&#10;      &lt;/Box&gt;&#10;&#10;      &lt;Box style={{&#10;        backgroundColor: '#1F3A8A',&#10;        padding: 14,&#10;        borderRadius: 8,&#10;        marginTop: 16,&#10;      }}&gt;&#10;        &lt;Text style={{ fontSize: 15, color: '#FFFFFF', textAlign: 'center', fontWeight: 'bold' }}&gt;&#10;          切模型 = 改 1 个后台配置，而不是改 N 个客户端&#10;        &lt;/Text&gt;&#10;      &lt;/Box&gt;&#10;    &lt;/Box&gt;&#10;&#10;    &lt;Box style={{&#10;      width: 440,&#10;      backgroundColor: '#F1F5F9',&#10;      borderRadius: 12,&#10;      padding: 16,&#10;      display: 'flex',&#10;      alignItems: 'center',&#10;      justifyContent: 'center',&#10;    }}&gt;&#10;      &lt;Image&#10;        src=&quot;assets/provider.png&quot;&#10;        style={{ width: '100%', objectFit: 'contain', borderRadius: 8 }}&#10;     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1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476250" y="4953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05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落地</a:t>
            </a:r>
            <a:endParaRPr/>
          </a:p>
        </p:txBody>
      </p:sp>
      <p:sp>
        <p:nvSpPr>
          <p:cNvPr id="108" name="矩形: 圆角 107"/>
          <p:cNvSpPr/>
          <p:nvPr/>
        </p:nvSpPr>
        <p:spPr>
          <a:xfrm>
            <a:off x="1152525" y="476250"/>
            <a:ext cx="733425" cy="200025"/>
          </a:xfrm>
          <a:prstGeom prst="roundRect">
            <a:avLst>
              <a:gd name="adj" fmla="val 4761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247775" y="504825"/>
            <a:ext cx="5429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✅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已实现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476250" y="752475"/>
            <a:ext cx="67437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② </a:t>
            </a: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管理大模型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76250" y="1247775"/>
            <a:ext cx="6743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多上游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协议翻译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告别供应商绑架</a:t>
            </a:r>
            <a:endParaRPr/>
          </a:p>
        </p:txBody>
      </p:sp>
      <p:sp>
        <p:nvSpPr>
          <p:cNvPr id="112" name="矩形: 圆角 111"/>
          <p:cNvSpPr/>
          <p:nvPr/>
        </p:nvSpPr>
        <p:spPr>
          <a:xfrm>
            <a:off x="476250" y="1666875"/>
            <a:ext cx="6743700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609600" y="1800225"/>
            <a:ext cx="314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🌐</a:t>
            </a:r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1057275" y="1800225"/>
            <a:ext cx="42005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同时挂任意多个上游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057275" y="2028825"/>
            <a:ext cx="42005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Ollama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vLLM / DeepSeek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云端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智谱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任何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OpenAI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兼容端点</a:t>
            </a:r>
            <a:endParaRPr/>
          </a:p>
        </p:txBody>
      </p:sp>
      <p:sp>
        <p:nvSpPr>
          <p:cNvPr id="116" name="矩形: 圆角 115"/>
          <p:cNvSpPr/>
          <p:nvPr/>
        </p:nvSpPr>
        <p:spPr>
          <a:xfrm>
            <a:off x="476250" y="2524125"/>
            <a:ext cx="6743700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09600" y="2657475"/>
            <a:ext cx="314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🔁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1057275" y="2657475"/>
            <a:ext cx="36480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协议自动翻译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57275" y="2886075"/>
            <a:ext cx="36480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标注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OpenAI / Anthropic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方言，网关自动完成请求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响应双向翻译</a:t>
            </a:r>
            <a:endParaRPr/>
          </a:p>
        </p:txBody>
      </p:sp>
      <p:sp>
        <p:nvSpPr>
          <p:cNvPr id="120" name="矩形: 圆角 119"/>
          <p:cNvSpPr/>
          <p:nvPr/>
        </p:nvSpPr>
        <p:spPr>
          <a:xfrm>
            <a:off x="476250" y="3381375"/>
            <a:ext cx="6743700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09600" y="3514725"/>
            <a:ext cx="314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🔗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057275" y="3514725"/>
            <a:ext cx="28479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密钥绑定上游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057275" y="3743325"/>
            <a:ext cx="28479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每把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sk-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独立路由到指定模型；未绑定时走默认上游</a:t>
            </a:r>
            <a:endParaRPr/>
          </a:p>
        </p:txBody>
      </p:sp>
      <p:sp>
        <p:nvSpPr>
          <p:cNvPr id="124" name="矩形: 圆角 123"/>
          <p:cNvSpPr/>
          <p:nvPr/>
        </p:nvSpPr>
        <p:spPr>
          <a:xfrm>
            <a:off x="476250" y="4238625"/>
            <a:ext cx="6743700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09600" y="4371975"/>
            <a:ext cx="314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Microsoft YaHei"/>
                <a:ea typeface="Microsoft YaHei"/>
              </a:rPr>
              <a:t>⚡</a:t>
            </a:r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1057275" y="4371975"/>
            <a:ext cx="26574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流式</a:t>
            </a:r>
            <a:r>
              <a:rPr lang="en-US" sz="1200" b="1">
                <a:solidFill>
                  <a:srgbClr val="1F3A8A"/>
                </a:solidFill>
                <a:latin typeface="Microsoft YaHei"/>
                <a:ea typeface="Microsoft YaHei"/>
              </a:rPr>
              <a:t> SSE </a:t>
            </a: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透传</a:t>
            </a:r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1057275" y="4600575"/>
            <a:ext cx="26574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不破坏客户端体验，长连接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打字机效果原样保留</a:t>
            </a:r>
            <a:endParaRPr/>
          </a:p>
        </p:txBody>
      </p:sp>
      <p:sp>
        <p:nvSpPr>
          <p:cNvPr id="128" name="矩形: 圆角 127"/>
          <p:cNvSpPr/>
          <p:nvPr/>
        </p:nvSpPr>
        <p:spPr>
          <a:xfrm>
            <a:off x="476250" y="5943600"/>
            <a:ext cx="6743700" cy="438150"/>
          </a:xfrm>
          <a:prstGeom prst="roundRect">
            <a:avLst>
              <a:gd name="adj" fmla="val 17391"/>
            </a:avLst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609600" y="6076950"/>
            <a:ext cx="6477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切模型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=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改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1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个后台配置，而不是改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N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个客户端</a:t>
            </a:r>
            <a:endParaRPr/>
          </a:p>
        </p:txBody>
      </p:sp>
      <p:sp>
        <p:nvSpPr>
          <p:cNvPr id="130" name="矩形: 圆角 129"/>
          <p:cNvSpPr/>
          <p:nvPr/>
        </p:nvSpPr>
        <p:spPr>
          <a:xfrm>
            <a:off x="7524750" y="476250"/>
            <a:ext cx="4191000" cy="590550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2"/>
          <a:srcRect l="33705" r="33705"/>
          <a:stretch>
            <a:fillRect/>
          </a:stretch>
        </p:blipFill>
        <p:spPr>
          <a:xfrm>
            <a:off x="7600950" y="581025"/>
            <a:ext cx="3886200" cy="5600700"/>
          </a:xfrm>
          <a:prstGeom prst="roundRect">
            <a:avLst>
              <a:gd name="adj" fmla="val 1961"/>
            </a:avLst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40,&#10;    display: 'flex',&#10;    flexDirection: 'column',&#10;  }}&gt;&#10;    &lt;Box style={{ display: 'flex', flexDirection: 'row', alignItems: 'center', gap: 12, marginBottom: 8 }}&gt;&#10;      &lt;Text style={{ fontSize: 14, color: '#0EA5E9', letterSpacing: 2 }}&gt;&#10;        05 落地&#10;      &lt;/Text&gt;&#10;      &lt;Box style={{&#10;        backgroundColor: '#10B981',&#10;        padding: '3px 10px',&#10;        borderRadius: 10,&#10;      }}&gt;&#10;        &lt;Text style={{ fontSize: 12, color: '#FFFFFF', fontWeight: 'bold' }}&gt;✅ 已实现&lt;/Text&gt;&#10;      &lt;/Box&gt;&#10;    &lt;/Box&gt;&#10;    &lt;Text style={{&#10;      fontSize: 36,&#10;      fontWeight: 'bold',&#10;      color: '#1F3A8A',&#10;      marginBottom: 8,&#10;    }}&gt;&#10;      ③ 人员 SK 分配&#10;    &lt;/Text&gt;&#10;    &lt;Text style={{&#10;      fontSize: 15,&#10;      color: '#64748B',&#10;      marginBottom: 20,&#10;    }}&gt;&#10;      按人/部门发卡，权责清晰&#10;    &lt;/Text&gt;&#10;&#10;    &lt;Box style={{&#10;      display: 'flex',&#10;      flexDirection: 'row',&#10;      gap: 24,&#10;      flex: 1,&#10;    }}&gt;&#10;      &lt;Box style={{ flex: 1, display: 'flex', flexDirection: 'column', gap: 12 }}&gt;&#10;        {[&#10;          { icon: '➕', title: '创建', desc: '名称 → 选绑上游 → 设过期（外包 3 月/正式 1 年）→ 弹窗回显明文' },&#10;          { icon: '🔄', title: '重置', desc: '丢失/泄露一键换发新钥，旧值即刻失效，名字/绑定/统计原封不动' },&#10;          { icon: '🚫', title: '吊销', desc: '员工离职，秒级断供；彻底作废不可恢复' },&#10;        ].map((op, i) =&gt; (&#10;          &lt;Box key={i} style={{&#10;            backgroundColor: '#F8FAFC',&#10;            padding: 16,&#10;            borderRadius: 8,&#10;            borderLeft: '4px solid #0EA5E9',&#10;            display: 'flex',&#10;            flexDirection: 'row',&#10;            gap: 12,&#10;            alignItems: 'flex-start',&#10;          }}&gt;&#10;            &lt;Text style={{ fontSize: 26 }}&gt;{op.icon}&lt;/Text&gt;&#10;            &lt;Box&gt;&#10;              &lt;Text style={{ fontSize: 17, fontWeight: 'bold', color: '#1F3A8A', marginBottom: 4 }}&gt;&#10;                {op.title}&#10;              &lt;/Text&gt;&#10;              &lt;Text style={{ fontSize: 13, color: '#475569', lineHeight: 1.5 }}&gt;&#10;                {op.desc}&#10;              &lt;/Text&gt;&#10;            &lt;/Box&gt;&#10;          &lt;/Box&gt;&#10;        ))}&#10;&#10;        &lt;Box style={{&#10;          backgroundColor: '#1F3A8A',&#10;          padding: 14,&#10;          borderRadius: 8,&#10;          marginTop: 8,&#10;        }}&gt;&#10;          &lt;Text style={{ fontSize: 14, color: '#FFFFFF', fontWeight: 'bold', marginBottom: 6 }}&gt;&#10;            🔐 权限分级&#10;          &lt;/Text&gt;&#10;          &lt;Box style={{ display: 'flex', flexDirection: 'row', gap: 16 }}&gt;&#10;            &lt;Box style={{ flex: 1 }}&gt;&#10;              &lt;Text style={{ fontSize: 13, color: '#0EA5E9', fontWeight: 'bold' }}&gt;管理员&lt;/Text&gt;&#10;              &lt;Text style={{ fontSize: 12, color: '#CBD5E1' }}&gt;发卡 / 重置 / 改上游&lt;/Text&gt;&#10;            &lt;/Box&gt;&#10;            &lt;Box style={{ flex: 1 }}&gt;&#10;              &lt;Text style={{ fontSize: 13, color: '#10B981', fontWeight: 'bold' }}&gt;查看者&lt;/Text&gt;&#10;              &lt;Text style={{ fontSize: 12, color: '#CBD5E1' }}&gt;只读统计 + 查看密钥列表&lt;/Text&gt;&#10;            &lt;/Box&gt;&#10;          &lt;/Box&gt;&#10;        &lt;/Box&gt;&#10;      &lt;/Box&gt;&#10;&#10;      &lt;Box style={{ flex: 1, display: 'flex', flexDirection: 'column', gap: 12 }}&gt;&#10;        &lt;Box style={{&#10;          backgroundColor: '#F1F5F9',&#10;          borderRadius: 8,&#10;          padding: 8,&#10;          flex: 1,&#10;          display: 'flex',&#10;          alignItems: 'center',&#10;          justifyContent: 'center',&#10;        }}&gt;&#10;          &lt;Image&#10;            src=&quot;assets/token.png&quot;&#10;            style={{ width: '100%', objectFit: 'contain', borderRadius: 6 }}&#10;          /&gt;&#10;        &lt;/Box&gt;&#10;        &lt;Box style={{&#10;          backgroundColor: '#F1F5F9',&#10;          borderRadius: 8,&#10;          padding: 8,&#10;          flex: 1,&#10;          display: 'flex',&#10;          alignItems: 'center',&#10;          justifyContent: 'center',&#10;        }}&gt;&#10;          &lt;Image&#10;            src=&quot;assets/user.png&quot;&#10;            style={{ width: '100%', objectFit: 'contain', borderRadius: 6 }}&#10;          /&gt;&#10;        &lt;/Box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1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381000" y="40005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05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落地</a:t>
            </a:r>
            <a:endParaRPr/>
          </a:p>
        </p:txBody>
      </p:sp>
      <p:sp>
        <p:nvSpPr>
          <p:cNvPr id="135" name="矩形: 圆角 134"/>
          <p:cNvSpPr/>
          <p:nvPr/>
        </p:nvSpPr>
        <p:spPr>
          <a:xfrm>
            <a:off x="1057275" y="381000"/>
            <a:ext cx="733425" cy="200025"/>
          </a:xfrm>
          <a:prstGeom prst="roundRect">
            <a:avLst>
              <a:gd name="adj" fmla="val 4761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1152525" y="409575"/>
            <a:ext cx="5429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✅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已实现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7225"/>
            <a:ext cx="114300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③ </a:t>
            </a: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人员</a:t>
            </a: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 SK </a:t>
            </a: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分配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381000" y="1152525"/>
            <a:ext cx="11430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按人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部门发卡，权责清晰</a:t>
            </a:r>
            <a:endParaRPr/>
          </a:p>
        </p:txBody>
      </p:sp>
      <p:sp>
        <p:nvSpPr>
          <p:cNvPr id="139" name="矩形: 圆角 138"/>
          <p:cNvSpPr/>
          <p:nvPr/>
        </p:nvSpPr>
        <p:spPr>
          <a:xfrm>
            <a:off x="419100" y="1514475"/>
            <a:ext cx="5600700" cy="771525"/>
          </a:xfrm>
          <a:prstGeom prst="roundRect">
            <a:avLst>
              <a:gd name="adj" fmla="val 987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任意多边形: 形状 139"/>
          <p:cNvSpPr/>
          <p:nvPr/>
        </p:nvSpPr>
        <p:spPr>
          <a:xfrm>
            <a:off x="419100" y="1514475"/>
            <a:ext cx="5600700" cy="771525"/>
          </a:xfrm>
          <a:custGeom>
            <a:avLst/>
            <a:gdLst/>
            <a:ahLst/>
            <a:cxnLst/>
            <a:rect l="0" t="0" r="0" b="0"/>
            <a:pathLst>
              <a:path w="588" h="8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7"/>
                </a:lnTo>
                <a:cubicBezTo>
                  <a:pt x="4" y="79"/>
                  <a:pt x="5" y="81"/>
                  <a:pt x="7" y="81"/>
                </a:cubicBezTo>
                <a:cubicBezTo>
                  <a:pt x="3" y="81"/>
                  <a:pt x="0" y="77"/>
                  <a:pt x="0" y="7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571500" y="1666875"/>
            <a:ext cx="342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➕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1028700" y="1666875"/>
            <a:ext cx="37528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3A8A"/>
                </a:solidFill>
                <a:latin typeface="Microsoft YaHei"/>
                <a:ea typeface="Microsoft YaHei"/>
              </a:rPr>
              <a:t>创建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028700" y="1905000"/>
            <a:ext cx="3752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名称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选绑上游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设过期（外包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3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正式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年）→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弹窗回显明文</a:t>
            </a:r>
            <a:endParaRPr/>
          </a:p>
        </p:txBody>
      </p:sp>
      <p:sp>
        <p:nvSpPr>
          <p:cNvPr id="144" name="矩形: 圆角 143"/>
          <p:cNvSpPr/>
          <p:nvPr/>
        </p:nvSpPr>
        <p:spPr>
          <a:xfrm>
            <a:off x="419100" y="2400300"/>
            <a:ext cx="5600700" cy="771525"/>
          </a:xfrm>
          <a:prstGeom prst="roundRect">
            <a:avLst>
              <a:gd name="adj" fmla="val 987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5" name="任意多边形: 形状 144"/>
          <p:cNvSpPr/>
          <p:nvPr/>
        </p:nvSpPr>
        <p:spPr>
          <a:xfrm>
            <a:off x="419100" y="2400300"/>
            <a:ext cx="5600700" cy="771525"/>
          </a:xfrm>
          <a:custGeom>
            <a:avLst/>
            <a:gdLst/>
            <a:ahLst/>
            <a:cxnLst/>
            <a:rect l="0" t="0" r="0" b="0"/>
            <a:pathLst>
              <a:path w="588" h="8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7"/>
                </a:lnTo>
                <a:cubicBezTo>
                  <a:pt x="4" y="79"/>
                  <a:pt x="5" y="81"/>
                  <a:pt x="7" y="81"/>
                </a:cubicBezTo>
                <a:cubicBezTo>
                  <a:pt x="3" y="81"/>
                  <a:pt x="0" y="77"/>
                  <a:pt x="0" y="7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571500" y="2552700"/>
            <a:ext cx="342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🔄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028700" y="2552700"/>
            <a:ext cx="36290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3A8A"/>
                </a:solidFill>
                <a:latin typeface="Microsoft YaHei"/>
                <a:ea typeface="Microsoft YaHei"/>
              </a:rPr>
              <a:t>重置</a:t>
            </a:r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028700" y="2790825"/>
            <a:ext cx="36290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丢失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泄露一键换发新钥，旧值即刻失效，名字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绑定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统计原封不动</a:t>
            </a:r>
            <a:endParaRPr/>
          </a:p>
        </p:txBody>
      </p:sp>
      <p:sp>
        <p:nvSpPr>
          <p:cNvPr id="149" name="矩形: 圆角 148"/>
          <p:cNvSpPr/>
          <p:nvPr/>
        </p:nvSpPr>
        <p:spPr>
          <a:xfrm>
            <a:off x="419100" y="3286125"/>
            <a:ext cx="5600700" cy="771525"/>
          </a:xfrm>
          <a:prstGeom prst="roundRect">
            <a:avLst>
              <a:gd name="adj" fmla="val 987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0" name="任意多边形: 形状 149"/>
          <p:cNvSpPr/>
          <p:nvPr/>
        </p:nvSpPr>
        <p:spPr>
          <a:xfrm>
            <a:off x="419100" y="3286125"/>
            <a:ext cx="5600700" cy="771525"/>
          </a:xfrm>
          <a:custGeom>
            <a:avLst/>
            <a:gdLst/>
            <a:ahLst/>
            <a:cxnLst/>
            <a:rect l="0" t="0" r="0" b="0"/>
            <a:pathLst>
              <a:path w="588" h="8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7"/>
                </a:lnTo>
                <a:cubicBezTo>
                  <a:pt x="4" y="79"/>
                  <a:pt x="5" y="81"/>
                  <a:pt x="7" y="81"/>
                </a:cubicBezTo>
                <a:cubicBezTo>
                  <a:pt x="3" y="81"/>
                  <a:pt x="0" y="77"/>
                  <a:pt x="0" y="7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571500" y="3438525"/>
            <a:ext cx="342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>
                <a:solidFill>
                  <a:schemeClr val="tx1"/>
                </a:solidFill>
                <a:latin typeface="Microsoft YaHei"/>
                <a:ea typeface="Microsoft YaHei"/>
              </a:rPr>
              <a:t>🚫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028700" y="3438525"/>
            <a:ext cx="22288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3A8A"/>
                </a:solidFill>
                <a:latin typeface="Microsoft YaHei"/>
                <a:ea typeface="Microsoft YaHei"/>
              </a:rPr>
              <a:t>吊销</a:t>
            </a:r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1028700" y="3676650"/>
            <a:ext cx="2228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员工离职，秒级断供；彻底作废不可恢复</a:t>
            </a:r>
            <a:endParaRPr/>
          </a:p>
        </p:txBody>
      </p:sp>
      <p:sp>
        <p:nvSpPr>
          <p:cNvPr id="154" name="矩形: 圆角 153"/>
          <p:cNvSpPr/>
          <p:nvPr/>
        </p:nvSpPr>
        <p:spPr>
          <a:xfrm>
            <a:off x="381000" y="4248150"/>
            <a:ext cx="5600700" cy="781050"/>
          </a:xfrm>
          <a:prstGeom prst="roundRect">
            <a:avLst>
              <a:gd name="adj" fmla="val 9756"/>
            </a:avLst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514350" y="4381500"/>
            <a:ext cx="5334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🔐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权限分级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514350" y="4600575"/>
            <a:ext cx="2590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A5E9"/>
                </a:solidFill>
                <a:latin typeface="Microsoft YaHei"/>
                <a:ea typeface="Microsoft YaHei"/>
              </a:rPr>
              <a:t>管理员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514350" y="4752975"/>
            <a:ext cx="2590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发卡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重置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改上游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3257550" y="4600575"/>
            <a:ext cx="2590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0B981"/>
                </a:solidFill>
                <a:latin typeface="Microsoft YaHei"/>
                <a:ea typeface="Microsoft YaHei"/>
              </a:rPr>
              <a:t>查看者</a:t>
            </a:r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3257550" y="4752975"/>
            <a:ext cx="2590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只读统计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查看密钥列表</a:t>
            </a:r>
            <a:endParaRPr/>
          </a:p>
        </p:txBody>
      </p:sp>
      <p:sp>
        <p:nvSpPr>
          <p:cNvPr id="160" name="矩形: 圆角 159"/>
          <p:cNvSpPr/>
          <p:nvPr/>
        </p:nvSpPr>
        <p:spPr>
          <a:xfrm>
            <a:off x="6210300" y="1514475"/>
            <a:ext cx="5600700" cy="2428875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2"/>
          <a:srcRect t="5462" b="5462"/>
          <a:stretch>
            <a:fillRect/>
          </a:stretch>
        </p:blipFill>
        <p:spPr>
          <a:xfrm>
            <a:off x="6286500" y="1590674"/>
            <a:ext cx="5448300" cy="2276475"/>
          </a:xfrm>
          <a:prstGeom prst="roundRect">
            <a:avLst>
              <a:gd name="adj" fmla="val 2510"/>
            </a:avLst>
          </a:prstGeom>
          <a:ln/>
        </p:spPr>
      </p:pic>
      <p:sp>
        <p:nvSpPr>
          <p:cNvPr id="162" name="矩形: 圆角 161"/>
          <p:cNvSpPr/>
          <p:nvPr/>
        </p:nvSpPr>
        <p:spPr>
          <a:xfrm>
            <a:off x="6210300" y="4057650"/>
            <a:ext cx="5600700" cy="2419350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3"/>
          <a:srcRect t="6621" b="6621"/>
          <a:stretch>
            <a:fillRect/>
          </a:stretch>
        </p:blipFill>
        <p:spPr>
          <a:xfrm>
            <a:off x="6286500" y="4133850"/>
            <a:ext cx="5448300" cy="2266950"/>
          </a:xfrm>
          <a:prstGeom prst="roundRect">
            <a:avLst>
              <a:gd name="adj" fmla="val 2521"/>
            </a:avLst>
          </a:prstGeom>
          <a:ln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column',&#10;  }}&gt;&#10;    &lt;Box style={{ display: 'flex', flexDirection: 'row', alignItems: 'center', gap: 12, marginBottom: 8 }}&gt;&#10;      &lt;Text style={{ fontSize: 14, color: '#0EA5E9', letterSpacing: 2 }}&gt;&#10;        05 落地&#10;      &lt;/Text&gt;&#10;      &lt;Box style={{&#10;        backgroundColor: '#2563EB',&#10;        padding: '3px 10px',&#10;        borderRadius: 10,&#10;      }}&gt;&#10;        &lt;Text style={{ fontSize: 12, color: '#FFFFFF', fontWeight: 'bold' }}&gt;🔌 集成说明&lt;/Text&gt;&#10;      &lt;/Box&gt;&#10;    &lt;/Box&gt;&#10;    &lt;Text style={{&#10;      fontSize: 36,&#10;      fontWeight: 'bold',&#10;      color: '#1F3A8A',&#10;      marginBottom: 8,&#10;    }}&gt;&#10;      ④ CC Switch 集成&#10;    &lt;/Text&gt;&#10;    &lt;Text style={{&#10;      fontSize: 15,&#10;      color: '#64748B',&#10;      marginBottom: 24,&#10;    }}&gt;&#10;      员工 IDE 零改造，CC Switch 一键指向网关&#10;    &lt;/Text&gt;&#10;&#10;    &lt;Box style={{ display: 'flex', flexDirection: 'row', gap: 32, flex: 1 }}&gt;&#10;      &lt;Box style={{ flex: 1, display: 'flex', flexDirection: 'column', gap: 16 }}&gt;&#10;        &lt;Box style={{&#10;          backgroundColor: '#F8FAFC',&#10;          padding: 18,&#10;          borderRadius: 8,&#10;          borderLeft: '4px solid #2563EB',&#10;        }}&gt;&#10;          &lt;Text style={{ fontSize: 15, fontWeight: 'bold', color: '#1F3A8A', marginBottom: 6 }}&gt;&#10;            什么是 CC Switch&#10;          &lt;/Text&gt;&#10;          &lt;Text style={{ fontSize: 13, color: '#475569', lineHeight: 1.5 }}&gt;&#10;            Claude Code / Cursor 等 AI IDE 的 provider 切换插件（外部工具，不在项目代码内）。&#10;          &lt;/Text&gt;&#10;        &lt;/Box&gt;&#10;&#10;        &lt;Box&gt;&#10;          &lt;Text style={{ fontSize: 16, fontWeight: 'bold', color: '#1F3A8A', marginBottom: 12 }}&gt;&#10;            4 步接入网关&#10;          &lt;/Text&gt;&#10;          &lt;Box style={{ display: 'flex', flexDirection: 'column', gap: 10 }}&gt;&#10;            {[&#10;              { num: '1', text: '在 CC Switch 添加一个 Provider' },&#10;              { num: '2', text: 'Base URL 填 网关内网地址 + /v1' },&#10;              { num: '3', text: 'API Key 填网关发的 sk-xxx' },&#10;              { num: '4', text: '模型名填上游已配置的可用模型' },&#10;            ].map((s, i) =&gt; (&#10;              &lt;Box key={i} style={{ display: 'flex', flexDirection: 'row', gap: 12, alignItems: 'center' }}&gt;&#10;                &lt;Box style={{&#10;                  width: 28,&#10;                  height: 28,&#10;                  backgroundColor: '#0EA5E9',&#10;                  borderRadius: 14,&#10;                  display: 'flex',&#10;                  alignItems: 'center',&#10;                  justifyContent: 'center',&#10;                }}&gt;&#10;                  &lt;Text style={{ fontSize: 14, color: '#FFFFFF', fontWeight: 'bold' }}&gt;{s.num}&lt;/Text&gt;&#10;                &lt;/Box&gt;&#10;                &lt;Text style={{ fontSize: 15, color: '#475569' }}&gt;{s.text}&lt;/Text&gt;&#10;              &lt;/Box&gt;&#10;            ))}&#10;          &lt;/Box&gt;&#10;        &lt;/Box&gt;&#10;      &lt;/Box&gt;&#10;&#10;      &lt;Box style={{ flex: 1, display: 'flex', flexDirection: 'column', gap: 12 }}&gt;&#10;        &lt;Text style={{ fontSize: 16, fontWeight: 'bold', color: '#1F3A8A', marginBottom: 4 }}&gt;&#10;          接入示意&#10;        &lt;/Text&gt;&#10;        &lt;Box style={{&#10;          backgroundColor: '#0F172A',&#10;          padding: 18,&#10;          borderRadius: 8,&#10;        }}&gt;&#10;          &lt;Text style={{ fontSize: 11, color: '#94A3B8', fontFamily: 'monospace', marginBottom: 10 }}&gt;&#10;            // CC Switch Provider Config&#10;          &lt;/Text&gt;&#10;          &lt;Text style={{ fontSize: 12, color: '#E2E8F0', fontFamily: 'monospace', lineHeight: 1.7 }}&gt;&#10;            &lt;span style={{ color: '#0EA5E9' }}&gt;name&lt;/span&gt;: &lt;span style={{ color: '#10B981' }}&gt;&quot;公司内网网关&quot;&lt;/span&gt;{&quot;\n&quot;}&#10;            &lt;span style={{ color: '#0EA5E9' }}&gt;baseURL&lt;/span&gt;: &lt;span style={{ color: '#10B981' }}&gt;&quot;http://gateway.内网:9000/v1&quot;&lt;/span&gt;{&quot;\n&quot;}&#10;            &lt;span style={{ color: '#0EA5E9' }}&gt;apiKey&lt;/span&gt;: &lt;span style={{ color: '#10B981' }}&gt;&quot;sk-xxx（网关发的）&quot;&lt;/span&gt;{&quot;\n&quot;}&#10;            &lt;span style={{ color: '#0EA5E9' }}&gt;models&lt;/span&gt;: [&quot;deepseek-chat&quot;, &quot;qwen3-8b&quot;, ...]&#10;          &lt;/Text&gt;&#10;        &lt;/Box&gt;&#10;&#10;        &lt;Box style={{&#10;          backgroundColor: '#ECFDF5',&#10;          padding: 14,&#10;          borderRadius: 8,&#10;          borderLeft: '4px solid #10B981',&#10;        }}&gt;&#10;          &lt;Text style={{ fontSize: 14, color: '#065F46', fontWeight: 'bold', marginBottom: 6 }}&gt;&#10;            带来的好处&#10;          &lt;/Text&gt;&#10;          &lt;Box style={{ display: 'flex', flexDirection: 'column', gap: 4 }}&gt;&#10;            &lt;Text style={{ fontSize: 13, color: '#065F46' }}&gt;• 员工本地 IDE 切模型无需改代码&lt;/Text&gt;&#10;            &lt;Text style={{ fontSize: 13, color: '#065F46' }}&gt;• 真实上游 API Key 不下发到员工电脑&lt;/Text&gt;&#10;            &lt;Text style={{ fontSize: 13, color: '#065F46' }}&gt;• 网关统一记账、可审计&lt;/Text&gt;&#10;          &lt;/Box&gt;&#10;        &lt;/Box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476250" y="4953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05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落地</a:t>
            </a:r>
            <a:endParaRPr/>
          </a:p>
        </p:txBody>
      </p:sp>
      <p:sp>
        <p:nvSpPr>
          <p:cNvPr id="167" name="矩形: 圆角 166"/>
          <p:cNvSpPr/>
          <p:nvPr/>
        </p:nvSpPr>
        <p:spPr>
          <a:xfrm>
            <a:off x="1152525" y="476250"/>
            <a:ext cx="847725" cy="200025"/>
          </a:xfrm>
          <a:prstGeom prst="roundRect">
            <a:avLst>
              <a:gd name="adj" fmla="val 4761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1247775" y="504825"/>
            <a:ext cx="657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🔌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集成说明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476250" y="752475"/>
            <a:ext cx="112395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④ CC Switch </a:t>
            </a: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476250" y="1247775"/>
            <a:ext cx="11239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64748B"/>
                </a:solidFill>
                <a:latin typeface="Microsoft YaHei"/>
                <a:ea typeface="Microsoft YaHei"/>
              </a:rPr>
              <a:t>员工</a:t>
            </a:r>
            <a:r>
              <a:rPr lang="en-US" sz="1125" dirty="0">
                <a:solidFill>
                  <a:srgbClr val="64748B"/>
                </a:solidFill>
                <a:latin typeface="Microsoft YaHei"/>
                <a:ea typeface="Microsoft YaHei"/>
              </a:rPr>
              <a:t> IDE </a:t>
            </a:r>
            <a:r>
              <a:rPr lang="zh-CN" sz="1125" dirty="0">
                <a:solidFill>
                  <a:srgbClr val="64748B"/>
                </a:solidFill>
                <a:latin typeface="Microsoft YaHei"/>
                <a:ea typeface="Microsoft YaHei"/>
              </a:rPr>
              <a:t>零改造，</a:t>
            </a:r>
            <a:r>
              <a:rPr lang="en-US" sz="1125" dirty="0">
                <a:solidFill>
                  <a:srgbClr val="64748B"/>
                </a:solidFill>
                <a:latin typeface="Microsoft YaHei"/>
                <a:ea typeface="Microsoft YaHei"/>
              </a:rPr>
              <a:t>CC Switch </a:t>
            </a:r>
            <a:r>
              <a:rPr lang="zh-CN" sz="1125" dirty="0">
                <a:solidFill>
                  <a:srgbClr val="64748B"/>
                </a:solidFill>
                <a:latin typeface="Microsoft YaHei"/>
                <a:ea typeface="Microsoft YaHei"/>
              </a:rPr>
              <a:t>一键指向网关</a:t>
            </a:r>
            <a:endParaRPr dirty="0"/>
          </a:p>
        </p:txBody>
      </p:sp>
      <p:sp>
        <p:nvSpPr>
          <p:cNvPr id="171" name="矩形: 圆角 170"/>
          <p:cNvSpPr/>
          <p:nvPr/>
        </p:nvSpPr>
        <p:spPr>
          <a:xfrm>
            <a:off x="514350" y="1647825"/>
            <a:ext cx="5467350" cy="80010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" name="任意多边形: 形状 171"/>
          <p:cNvSpPr/>
          <p:nvPr/>
        </p:nvSpPr>
        <p:spPr>
          <a:xfrm>
            <a:off x="514350" y="1647825"/>
            <a:ext cx="5467350" cy="800100"/>
          </a:xfrm>
          <a:custGeom>
            <a:avLst/>
            <a:gdLst/>
            <a:ahLst/>
            <a:cxnLst/>
            <a:rect l="0" t="0" r="0" b="0"/>
            <a:pathLst>
              <a:path w="574" h="8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0"/>
                </a:lnTo>
                <a:cubicBezTo>
                  <a:pt x="4" y="82"/>
                  <a:pt x="5" y="84"/>
                  <a:pt x="7" y="84"/>
                </a:cubicBezTo>
                <a:cubicBezTo>
                  <a:pt x="3" y="84"/>
                  <a:pt x="0" y="80"/>
                  <a:pt x="0" y="7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85800" y="1819275"/>
            <a:ext cx="50863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3A8A"/>
                </a:solidFill>
                <a:latin typeface="Microsoft YaHei"/>
                <a:ea typeface="Microsoft YaHei"/>
              </a:rPr>
              <a:t>什么是</a:t>
            </a:r>
            <a:r>
              <a:rPr lang="en-US" sz="1125" b="1">
                <a:solidFill>
                  <a:srgbClr val="1F3A8A"/>
                </a:solidFill>
                <a:latin typeface="Microsoft YaHei"/>
                <a:ea typeface="Microsoft YaHei"/>
              </a:rPr>
              <a:t> CC Switch</a:t>
            </a:r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85800" y="2047875"/>
            <a:ext cx="5086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Claude Code / Cursor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等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AI IDE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的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provider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切换插件（外部工具，不在项目代码内）。</a:t>
            </a:r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76250" y="2600325"/>
            <a:ext cx="5467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3A8A"/>
                </a:solidFill>
                <a:latin typeface="Microsoft YaHei"/>
                <a:ea typeface="Microsoft YaHei"/>
              </a:rPr>
              <a:t>4 </a:t>
            </a:r>
            <a:r>
              <a:rPr lang="zh-CN" sz="1200" b="1">
                <a:solidFill>
                  <a:srgbClr val="1F3A8A"/>
                </a:solidFill>
                <a:latin typeface="Microsoft YaHei"/>
                <a:ea typeface="Microsoft YaHei"/>
              </a:rPr>
              <a:t>步接入网关</a:t>
            </a:r>
            <a:endParaRPr/>
          </a:p>
        </p:txBody>
      </p:sp>
      <p:sp>
        <p:nvSpPr>
          <p:cNvPr id="176" name="矩形: 圆角 175"/>
          <p:cNvSpPr/>
          <p:nvPr/>
        </p:nvSpPr>
        <p:spPr>
          <a:xfrm>
            <a:off x="476250" y="29051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571500" y="296227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857250" y="2952750"/>
            <a:ext cx="2085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CC Switch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添加一个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Provider</a:t>
            </a:r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476250" y="32670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571500" y="332422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857250" y="3314700"/>
            <a:ext cx="2133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Base URL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填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网关内网地址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+ /v1</a:t>
            </a:r>
            <a:endParaRPr/>
          </a:p>
        </p:txBody>
      </p:sp>
      <p:sp>
        <p:nvSpPr>
          <p:cNvPr id="182" name="矩形: 圆角 181"/>
          <p:cNvSpPr/>
          <p:nvPr/>
        </p:nvSpPr>
        <p:spPr>
          <a:xfrm>
            <a:off x="476250" y="36290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571500" y="368617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857250" y="3676650"/>
            <a:ext cx="17335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API Key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填网关发的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sk-xxx</a:t>
            </a:r>
            <a:endParaRPr/>
          </a:p>
        </p:txBody>
      </p:sp>
      <p:sp>
        <p:nvSpPr>
          <p:cNvPr id="185" name="矩形: 圆角 184"/>
          <p:cNvSpPr/>
          <p:nvPr/>
        </p:nvSpPr>
        <p:spPr>
          <a:xfrm>
            <a:off x="476250" y="3990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571500" y="4048125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57250" y="4038600"/>
            <a:ext cx="2000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模型名填上游已配置的可用模型</a:t>
            </a:r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6248400" y="1647825"/>
            <a:ext cx="5467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 dirty="0">
                <a:solidFill>
                  <a:srgbClr val="1F3A8A"/>
                </a:solidFill>
                <a:latin typeface="Microsoft YaHei"/>
                <a:ea typeface="Microsoft YaHei"/>
              </a:rPr>
              <a:t>接入</a:t>
            </a:r>
            <a:r>
              <a:rPr lang="en-US" altLang="zh-CN" sz="1200" b="1" dirty="0">
                <a:solidFill>
                  <a:srgbClr val="1F3A8A"/>
                </a:solidFill>
                <a:latin typeface="Microsoft YaHei"/>
                <a:ea typeface="Microsoft YaHei"/>
              </a:rPr>
              <a:t>JSON</a:t>
            </a:r>
            <a:r>
              <a:rPr lang="zh-CN" altLang="en-US" sz="1200" b="1" dirty="0">
                <a:solidFill>
                  <a:srgbClr val="1F3A8A"/>
                </a:solidFill>
                <a:latin typeface="Microsoft YaHei"/>
                <a:ea typeface="Microsoft YaHei"/>
              </a:rPr>
              <a:t>配置</a:t>
            </a:r>
            <a:endParaRPr dirty="0"/>
          </a:p>
        </p:txBody>
      </p:sp>
      <p:sp>
        <p:nvSpPr>
          <p:cNvPr id="192" name="矩形: 圆角 191"/>
          <p:cNvSpPr/>
          <p:nvPr/>
        </p:nvSpPr>
        <p:spPr>
          <a:xfrm>
            <a:off x="6286500" y="3609975"/>
            <a:ext cx="5467350" cy="1019175"/>
          </a:xfrm>
          <a:prstGeom prst="roundRect">
            <a:avLst>
              <a:gd name="adj" fmla="val 7477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任意多边形: 形状 192"/>
          <p:cNvSpPr/>
          <p:nvPr/>
        </p:nvSpPr>
        <p:spPr>
          <a:xfrm>
            <a:off x="6286500" y="3609975"/>
            <a:ext cx="5467350" cy="1019175"/>
          </a:xfrm>
          <a:custGeom>
            <a:avLst/>
            <a:gdLst/>
            <a:ahLst/>
            <a:cxnLst/>
            <a:rect l="0" t="0" r="0" b="0"/>
            <a:pathLst>
              <a:path w="574" h="10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3"/>
                </a:lnTo>
                <a:cubicBezTo>
                  <a:pt x="4" y="105"/>
                  <a:pt x="5" y="107"/>
                  <a:pt x="7" y="107"/>
                </a:cubicBezTo>
                <a:cubicBezTo>
                  <a:pt x="3" y="107"/>
                  <a:pt x="0" y="103"/>
                  <a:pt x="0" y="9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419850" y="3743325"/>
            <a:ext cx="51625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5F46"/>
                </a:solidFill>
                <a:latin typeface="Microsoft YaHei"/>
                <a:ea typeface="Microsoft YaHei"/>
              </a:rPr>
              <a:t>带来的好处</a:t>
            </a:r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6419850" y="3962400"/>
            <a:ext cx="5162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员工本地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 IDE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切模型无需改代码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419850" y="4152900"/>
            <a:ext cx="5162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真实上游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 API Key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不下发到员工电脑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419850" y="4343400"/>
            <a:ext cx="5162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网关统一记账、可审计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4026EF-8F3E-85B3-7AAA-B66ED04B9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49" y="1984701"/>
            <a:ext cx="5003755" cy="14442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50,&#10;    display: 'flex',&#10;    flexDirection: 'row',&#10;    gap: 32,&#10;  }}&gt;&#10;    &lt;Box style={{ flex: 1, display: 'flex', flexDirection: 'column' }}&gt;&#10;      &lt;Box style={{ display: 'flex', flexDirection: 'row', gap: 8, alignItems: 'center', marginBottom: 8 }}&gt;&#10;        &lt;Text style={{ fontSize: 14, color: '#0EA5E9', letterSpacing: 2 }}&gt;&#10;          05 落地&#10;        &lt;/Text&gt;&#10;        &lt;Box style={{&#10;          backgroundColor: '#F59E0B',&#10;          padding: '3px 10px',&#10;          borderRadius: 10,&#10;        }}&gt;&#10;          &lt;Text style={{ fontSize: 12, color: '#FFFFFF', fontWeight: 'bold' }}&gt;🟡 半实现 + 🛣 路线图&lt;/Text&gt;&#10;        &lt;/Box&gt;&#10;      &lt;/Box&gt;&#10;      &lt;Text style={{&#10;        fontSize: 36,&#10;        fontWeight: 'bold',&#10;        color: '#1F3A8A',&#10;        marginBottom: 8,&#10;      }}&gt;&#10;        ⑤ 用量管控&#10;      &lt;/Text&gt;&#10;      &lt;Text style={{&#10;        fontSize: 16,&#10;        color: '#475569',&#10;        marginBottom: 20,&#10;      }}&gt;&#10;        先看见，再守住&#10;      &lt;/Text&gt;&#10;&#10;      &lt;Box style={{&#10;        backgroundColor: '#ECFDF5',&#10;        padding: 16,&#10;        borderRadius: 8,&#10;        borderLeft: '4px solid #10B981',&#10;        marginBottom: 14,&#10;      }}&gt;&#10;        &lt;Text style={{ fontSize: 15, fontWeight: 'bold', color: '#065F46', marginBottom: 10 }}&gt;&#10;          ✅ 当前已有&#10;        &lt;/Text&gt;&#10;        &lt;Box style={{ display: 'flex', flexDirection: 'column', gap: 6 }}&gt;&#10;          {[&#10;            '用量统计：日/周/月 + 输入/输出/缓存命中分列',&#10;            '密钥×周期矩阵：哪个部门烧了多少一目了然',&#10;            '手动吊销：发现异常一键 revoke',&#10;            '用量告警：发现&quot;该密钥今日调用数异常&quot;→ 立即重置或吊销',&#10;          ].map((s, i) =&gt; (&#10;            &lt;Text key={i} style={{ fontSize: 13, color: '#065F46', lineHeight: 1.6 }}&gt;• {s}&lt;/Text&gt;&#10;          ))}&#10;        &lt;/Box&gt;&#10;      &lt;/Box&gt;&#10;&#10;      &lt;Box style={{&#10;        backgroundColor: '#FEF3C7',&#10;        padding: 16,&#10;        borderRadius: 8,&#10;        borderLeft: '4px solid #F59E0B',&#10;      }}&gt;&#10;        &lt;Text style={{ fontSize: 15, fontWeight: 'bold', color: '#92400E', marginBottom: 10 }}&gt;&#10;          🛣 下一步可加（路线图）&#10;        &lt;/Text&gt;&#10;        &lt;Box style={{ display: 'flex', flexDirection: 'column', gap: 6 }}&gt;&#10;          {[&#10;            '请求限流（rate limit）：单密钥每分钟/小时最大请求数，超限自动 429',&#10;            '每日限额：单密钥每日 token 上限，超限熔断；月度预算告警',&#10;            '审批流：超额使用需要管理员审批',&#10;          ].map((s, i) =&gt; (&#10;            &lt;Text key={i} style={{ fontSize: 13, color: '#92400E', lineHeight: 1.6 }}&gt;• {s}&lt;/Text&gt;&#10;          ))}&#10;        &lt;/Box&gt;&#10;      &lt;/Box&gt;&#10;&#10;      &lt;Text style={{&#10;        fontSize: 14,&#10;        fontWeight: 'bold',&#10;        color: '#1F3A8A',&#10;        textAlign: 'center',&#10;        marginTop: 16,&#10;        padding: 12,&#10;        backgroundColor: '#F8FAFC',&#10;        borderRadius: 6,&#10;      }}&gt;&#10;        v1 给团队用（统计+手动管控已够用），v2 加自动限流给企业级用&#10;      &lt;/Text&gt;&#10;    &lt;/Box&gt;&#10;&#10;    &lt;Box style={{&#10;      width: 440,&#10;      backgroundColor: '#F1F5F9',&#10;      borderRadius: 12,&#10;      padding: 16,&#10;      display: 'flex',&#10;      alignItems: 'center',&#10;      justifyContent: 'center',&#10;    }}&gt;&#10;      &lt;Image&#10;        src=&quot;assets/statistics.png&quot;&#10;        style={{ width: '100%', objectFit: 'contain', borderRadius: 8 }}&#10;     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矩形 1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476250" y="495300"/>
            <a:ext cx="561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05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落地</a:t>
            </a:r>
            <a:endParaRPr/>
          </a:p>
        </p:txBody>
      </p:sp>
      <p:sp>
        <p:nvSpPr>
          <p:cNvPr id="201" name="矩形: 圆角 200"/>
          <p:cNvSpPr/>
          <p:nvPr/>
        </p:nvSpPr>
        <p:spPr>
          <a:xfrm>
            <a:off x="1114425" y="476250"/>
            <a:ext cx="1504950" cy="200025"/>
          </a:xfrm>
          <a:prstGeom prst="roundRect">
            <a:avLst>
              <a:gd name="adj" fmla="val 4761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1209675" y="504825"/>
            <a:ext cx="13144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🟡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半实现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 + 🛣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路线图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76250" y="752475"/>
            <a:ext cx="67437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F3A8A"/>
                </a:solidFill>
                <a:latin typeface="Microsoft YaHei"/>
                <a:ea typeface="Microsoft YaHei"/>
              </a:rPr>
              <a:t>⑤ </a:t>
            </a:r>
            <a:r>
              <a:rPr lang="zh-CN" sz="2700" b="1">
                <a:solidFill>
                  <a:srgbClr val="1F3A8A"/>
                </a:solidFill>
                <a:latin typeface="Microsoft YaHei"/>
                <a:ea typeface="Microsoft YaHei"/>
              </a:rPr>
              <a:t>用量管控</a:t>
            </a:r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76250" y="1247775"/>
            <a:ext cx="6743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先看见，再守住</a:t>
            </a:r>
            <a:endParaRPr/>
          </a:p>
        </p:txBody>
      </p:sp>
      <p:sp>
        <p:nvSpPr>
          <p:cNvPr id="205" name="矩形: 圆角 204"/>
          <p:cNvSpPr/>
          <p:nvPr/>
        </p:nvSpPr>
        <p:spPr>
          <a:xfrm>
            <a:off x="514350" y="1628775"/>
            <a:ext cx="6743700" cy="1695450"/>
          </a:xfrm>
          <a:prstGeom prst="roundRect">
            <a:avLst>
              <a:gd name="adj" fmla="val 449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6" name="任意多边形: 形状 205"/>
          <p:cNvSpPr/>
          <p:nvPr/>
        </p:nvSpPr>
        <p:spPr>
          <a:xfrm>
            <a:off x="514350" y="1628775"/>
            <a:ext cx="6743700" cy="1695450"/>
          </a:xfrm>
          <a:custGeom>
            <a:avLst/>
            <a:gdLst/>
            <a:ahLst/>
            <a:cxnLst/>
            <a:rect l="0" t="0" r="0" b="0"/>
            <a:pathLst>
              <a:path w="708" h="17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4"/>
                </a:lnTo>
                <a:cubicBezTo>
                  <a:pt x="4" y="176"/>
                  <a:pt x="5" y="178"/>
                  <a:pt x="7" y="178"/>
                </a:cubicBezTo>
                <a:cubicBezTo>
                  <a:pt x="3" y="178"/>
                  <a:pt x="0" y="174"/>
                  <a:pt x="0" y="17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666750" y="1781175"/>
            <a:ext cx="6400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5F46"/>
                </a:solidFill>
                <a:latin typeface="Microsoft YaHei"/>
                <a:ea typeface="Microsoft YaHei"/>
              </a:rPr>
              <a:t>✅ </a:t>
            </a:r>
            <a:r>
              <a:rPr lang="zh-CN" sz="1125" b="1">
                <a:solidFill>
                  <a:srgbClr val="065F46"/>
                </a:solidFill>
                <a:latin typeface="Microsoft YaHei"/>
                <a:ea typeface="Microsoft YaHei"/>
              </a:rPr>
              <a:t>当前已有</a:t>
            </a:r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66750" y="2047875"/>
            <a:ext cx="6400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用量统计：日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输入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输出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缓存命中分列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666750" y="2343150"/>
            <a:ext cx="6400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密钥×周期矩阵：哪个部门烧了多少一目了然</a:t>
            </a:r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666750" y="2638425"/>
            <a:ext cx="6400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手动吊销：发现异常一键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 revoke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666750" y="2933700"/>
            <a:ext cx="6400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用量告警：发现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该密钥今日调用数异常</a:t>
            </a:r>
            <a:r>
              <a:rPr lang="en-US" sz="975">
                <a:solidFill>
                  <a:srgbClr val="065F46"/>
                </a:solidFill>
                <a:latin typeface="Microsoft YaHei"/>
                <a:ea typeface="Microsoft YaHei"/>
              </a:rPr>
              <a:t>"→ </a:t>
            </a:r>
            <a:r>
              <a:rPr lang="zh-CN" sz="975">
                <a:solidFill>
                  <a:srgbClr val="065F46"/>
                </a:solidFill>
                <a:latin typeface="Microsoft YaHei"/>
                <a:ea typeface="Microsoft YaHei"/>
              </a:rPr>
              <a:t>立即重置或吊销</a:t>
            </a:r>
            <a:endParaRPr/>
          </a:p>
        </p:txBody>
      </p:sp>
      <p:sp>
        <p:nvSpPr>
          <p:cNvPr id="212" name="矩形: 圆角 211"/>
          <p:cNvSpPr/>
          <p:nvPr/>
        </p:nvSpPr>
        <p:spPr>
          <a:xfrm>
            <a:off x="514350" y="3457575"/>
            <a:ext cx="6743700" cy="1400175"/>
          </a:xfrm>
          <a:prstGeom prst="roundRect">
            <a:avLst>
              <a:gd name="adj" fmla="val 544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3" name="任意多边形: 形状 212"/>
          <p:cNvSpPr/>
          <p:nvPr/>
        </p:nvSpPr>
        <p:spPr>
          <a:xfrm>
            <a:off x="514350" y="3457575"/>
            <a:ext cx="6743700" cy="1400175"/>
          </a:xfrm>
          <a:custGeom>
            <a:avLst/>
            <a:gdLst/>
            <a:ahLst/>
            <a:cxnLst/>
            <a:rect l="0" t="0" r="0" b="0"/>
            <a:pathLst>
              <a:path w="708" h="14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3"/>
                </a:lnTo>
                <a:cubicBezTo>
                  <a:pt x="4" y="145"/>
                  <a:pt x="5" y="147"/>
                  <a:pt x="7" y="147"/>
                </a:cubicBezTo>
                <a:cubicBezTo>
                  <a:pt x="3" y="147"/>
                  <a:pt x="0" y="143"/>
                  <a:pt x="0" y="1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666750" y="3609975"/>
            <a:ext cx="6400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92400E"/>
                </a:solidFill>
                <a:latin typeface="Microsoft YaHei"/>
                <a:ea typeface="Microsoft YaHei"/>
              </a:rPr>
              <a:t>🛣 </a:t>
            </a:r>
            <a:r>
              <a:rPr lang="zh-CN" sz="1125" b="1">
                <a:solidFill>
                  <a:srgbClr val="92400E"/>
                </a:solidFill>
                <a:latin typeface="Microsoft YaHei"/>
                <a:ea typeface="Microsoft YaHei"/>
              </a:rPr>
              <a:t>下一步可加（路线图）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666750" y="3876675"/>
            <a:ext cx="6400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请求限流（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rate limit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）：单密钥每分钟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小时最大请求数，超限自动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429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666750" y="4171950"/>
            <a:ext cx="6400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每日限额：单密钥每日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token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上限，超限熔断；月度预算告警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666750" y="4467225"/>
            <a:ext cx="6400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•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审批流：超额使用需要管理员审批</a:t>
            </a:r>
            <a:endParaRPr/>
          </a:p>
        </p:txBody>
      </p:sp>
      <p:sp>
        <p:nvSpPr>
          <p:cNvPr id="218" name="矩形: 圆角 217"/>
          <p:cNvSpPr/>
          <p:nvPr/>
        </p:nvSpPr>
        <p:spPr>
          <a:xfrm>
            <a:off x="476250" y="5010150"/>
            <a:ext cx="6743700" cy="390525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76250" y="5010150"/>
            <a:ext cx="6743700" cy="390525"/>
          </a:xfrm>
          <a:prstGeom prst="rect">
            <a:avLst/>
          </a:prstGeom>
        </p:spPr>
        <p:txBody>
          <a:bodyPr wrap="none" lIns="85725" tIns="85725" rIns="85725" bIns="85725"/>
          <a:lstStyle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v1 </a:t>
            </a:r>
            <a:r>
              <a:rPr lang="zh-CN" sz="105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给团队用（统计</a:t>
            </a:r>
            <a:r>
              <a:rPr lang="en-US" sz="105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+</a:t>
            </a:r>
            <a:r>
              <a:rPr lang="zh-CN" sz="105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手动管控已够用），</a:t>
            </a:r>
            <a:r>
              <a:rPr lang="en-US" sz="105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v2 </a:t>
            </a:r>
            <a:r>
              <a:rPr lang="zh-CN" sz="105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加自动限流给企业级用</a:t>
            </a:r>
            <a:endParaRPr/>
          </a:p>
        </p:txBody>
      </p:sp>
      <p:sp>
        <p:nvSpPr>
          <p:cNvPr id="220" name="矩形: 圆角 219"/>
          <p:cNvSpPr/>
          <p:nvPr/>
        </p:nvSpPr>
        <p:spPr>
          <a:xfrm>
            <a:off x="7524750" y="476250"/>
            <a:ext cx="4191000" cy="590550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FA189A-C42E-A1FF-2CCE-158ABAEE1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638175"/>
            <a:ext cx="4052886" cy="55848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FFFFFF',&#10;    padding: 60,&#10;    display: 'flex',&#10;    flexDirection: 'column',&#10;  }}&gt;&#10;    &lt;Text style={{&#10;      fontSize: 14,&#10;      color: '#0EA5E9',&#10;      letterSpacing: 2,&#10;      marginBottom: 8,&#10;    }}&gt;&#10;      06 边界&#10;    &lt;/Text&gt;&#10;    &lt;Text style={{&#10;      fontSize: 40,&#10;      fontWeight: 'bold',&#10;      color: '#1F3A8A',&#10;      marginBottom: 8,&#10;    }}&gt;&#10;      什么它不解决&#10;    &lt;/Text&gt;&#10;    &lt;Text style={{&#10;      fontSize: 16,&#10;      color: '#64748B',&#10;      marginBottom: 40,&#10;    }}&gt;&#10;      诚实的边界 = 可信的产品&#10;    &lt;/Text&gt;&#10;&#10;    &lt;Box style={{&#10;      display: 'flex',&#10;      flexDirection: 'row',&#10;      gap: 24,&#10;      flex: 1,&#10;    }}&gt;&#10;      {[&#10;        {&#10;          icon: '💰',&#10;          title: '不做计费充值',&#10;          desc: '内部用统计就够了',&#10;          note: '对外卖 token 是另一条路（也不建议做）',&#10;        },&#10;        {&#10;          icon: '🛡️',&#10;          title: '不做内容安全审核',&#10;          desc: '违规内容过滤需专门服务',&#10;          note: '需要时可对接内容审核 API',&#10;        },&#10;        {&#10;          icon: '🏗️',&#10;          title: '不是高可用集群',&#10;          desc: '单实例 + SQLite',&#10;          note: '定位是中小团队内网总闸，不是日均亿级平台',&#10;        },&#10;      ].map((item, i) =&gt; (&#10;        &lt;Box key={i} style={{&#10;          flex: 1,&#10;          backgroundColor: '#FEF2F2',&#10;          borderLeft: '6px solid #DC2626',&#10;          padding: 28,&#10;          borderRadius: 12,&#10;          display: 'flex',&#10;          flexDirection: 'column',&#10;          gap: 12,&#10;        }}&gt;&#10;          &lt;Text style={{ fontSize: 40 }}&gt;{item.icon}&lt;/Text&gt;&#10;          &lt;Text style={{ fontSize: 22, fontWeight: 'bold', color: '#DC2626' }}&gt;&#10;            {item.title}&#10;          &lt;/Text&gt;&#10;          &lt;Text style={{ fontSize: 15, color: '#475569', lineHeight: 1.5 }}&gt;&#10;            {item.desc}&#10;          &lt;/Text&gt;&#10;          &lt;Text style={{ fontSize: 12, color: '#94A3B8', fontStyle: 'italic' }}&gt;&#10;            {item.note}&#10;          &lt;/Text&gt;&#10;        &lt;/Box&gt;&#10;      ))}&#10;    &lt;/Box&gt;&#10;&#10;    &lt;Text style={{&#10;      fontSize: 24,&#10;      fontWeight: 'bold',&#10;      color: '#1F3A8A',&#10;      textAlign: 'center',&#10;      marginTop: 32,&#10;      padding: 20,&#10;      backgroundColor: '#F8FAFC',&#10;      borderRadius: 8,&#10;    }}&gt;&#10;      它是给&quot;想管好自己人怎么用 AI&quot;的团队用的，&lt;br /&gt;不是给&quot;想做 AI 生意&quot;的人用的。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矩形 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EA5E9"/>
                </a:solidFill>
                <a:latin typeface="Microsoft YaHei"/>
                <a:ea typeface="Microsoft YaHei"/>
              </a:rPr>
              <a:t>06 </a:t>
            </a:r>
            <a:r>
              <a:rPr lang="zh-CN" sz="1050" spc="150">
                <a:solidFill>
                  <a:srgbClr val="0EA5E9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71500" y="809625"/>
            <a:ext cx="110490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3A8A"/>
                </a:solidFill>
                <a:latin typeface="Microsoft YaHei"/>
                <a:ea typeface="Microsoft YaHei"/>
              </a:rPr>
              <a:t>什么它不解决</a:t>
            </a:r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571500" y="1343025"/>
            <a:ext cx="11049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诚实的边界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可信的产品</a:t>
            </a:r>
            <a:endParaRPr/>
          </a:p>
        </p:txBody>
      </p:sp>
      <p:sp>
        <p:nvSpPr>
          <p:cNvPr id="227" name="矩形: 圆角 226"/>
          <p:cNvSpPr/>
          <p:nvPr/>
        </p:nvSpPr>
        <p:spPr>
          <a:xfrm>
            <a:off x="628650" y="1914525"/>
            <a:ext cx="3533775" cy="3133725"/>
          </a:xfrm>
          <a:prstGeom prst="roundRect">
            <a:avLst>
              <a:gd name="adj" fmla="val 364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8" name="任意多边形: 形状 227"/>
          <p:cNvSpPr/>
          <p:nvPr/>
        </p:nvSpPr>
        <p:spPr>
          <a:xfrm>
            <a:off x="628650" y="1914525"/>
            <a:ext cx="3533775" cy="3133725"/>
          </a:xfrm>
          <a:custGeom>
            <a:avLst/>
            <a:gdLst/>
            <a:ahLst/>
            <a:cxnLst/>
            <a:rect l="0" t="0" r="0" b="0"/>
            <a:pathLst>
              <a:path w="371" h="329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323"/>
                </a:lnTo>
                <a:cubicBezTo>
                  <a:pt x="6" y="326"/>
                  <a:pt x="8" y="328"/>
                  <a:pt x="11" y="329"/>
                </a:cubicBezTo>
                <a:cubicBezTo>
                  <a:pt x="5" y="328"/>
                  <a:pt x="0" y="323"/>
                  <a:pt x="0" y="317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95350" y="2181225"/>
            <a:ext cx="2943225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💰</a:t>
            </a:r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895350" y="2752725"/>
            <a:ext cx="29432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不做计费充值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895350" y="3124200"/>
            <a:ext cx="29432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内部用统计就够了</a:t>
            </a:r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895350" y="3495675"/>
            <a:ext cx="2943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94A3B8"/>
                </a:solidFill>
                <a:latin typeface="Microsoft YaHei"/>
                <a:ea typeface="Microsoft YaHei"/>
              </a:rPr>
              <a:t>对外卖</a:t>
            </a:r>
            <a:r>
              <a:rPr lang="en-US" sz="900" i="1">
                <a:solidFill>
                  <a:srgbClr val="94A3B8"/>
                </a:solidFill>
                <a:latin typeface="Microsoft YaHei"/>
                <a:ea typeface="Microsoft YaHei"/>
              </a:rPr>
              <a:t> token </a:t>
            </a:r>
            <a:r>
              <a:rPr lang="zh-CN" sz="900" i="1">
                <a:solidFill>
                  <a:srgbClr val="94A3B8"/>
                </a:solidFill>
                <a:latin typeface="Microsoft YaHei"/>
                <a:ea typeface="Microsoft YaHei"/>
              </a:rPr>
              <a:t>是另一条路（也不建议做）</a:t>
            </a:r>
            <a:endParaRPr/>
          </a:p>
        </p:txBody>
      </p:sp>
      <p:sp>
        <p:nvSpPr>
          <p:cNvPr id="233" name="矩形: 圆角 232"/>
          <p:cNvSpPr/>
          <p:nvPr/>
        </p:nvSpPr>
        <p:spPr>
          <a:xfrm>
            <a:off x="4391025" y="1914525"/>
            <a:ext cx="3524250" cy="3133725"/>
          </a:xfrm>
          <a:prstGeom prst="roundRect">
            <a:avLst>
              <a:gd name="adj" fmla="val 364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4" name="任意多边形: 形状 233"/>
          <p:cNvSpPr/>
          <p:nvPr/>
        </p:nvSpPr>
        <p:spPr>
          <a:xfrm>
            <a:off x="4391025" y="1914525"/>
            <a:ext cx="3524250" cy="3133725"/>
          </a:xfrm>
          <a:custGeom>
            <a:avLst/>
            <a:gdLst/>
            <a:ahLst/>
            <a:cxnLst/>
            <a:rect l="0" t="0" r="0" b="0"/>
            <a:pathLst>
              <a:path w="370" h="329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323"/>
                </a:lnTo>
                <a:cubicBezTo>
                  <a:pt x="6" y="326"/>
                  <a:pt x="8" y="328"/>
                  <a:pt x="11" y="329"/>
                </a:cubicBezTo>
                <a:cubicBezTo>
                  <a:pt x="5" y="328"/>
                  <a:pt x="0" y="323"/>
                  <a:pt x="0" y="317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4657725" y="2181225"/>
            <a:ext cx="293370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🛡️</a:t>
            </a:r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4657725" y="2752725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不做内容安全审核</a:t>
            </a:r>
            <a:endParaRPr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657725" y="3124200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违规内容过滤需专门服务</a:t>
            </a:r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657725" y="3495675"/>
            <a:ext cx="2933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94A3B8"/>
                </a:solidFill>
                <a:latin typeface="Microsoft YaHei"/>
                <a:ea typeface="Microsoft YaHei"/>
              </a:rPr>
              <a:t>需要时可对接内容审核</a:t>
            </a:r>
            <a:r>
              <a:rPr lang="en-US" sz="900" i="1">
                <a:solidFill>
                  <a:srgbClr val="94A3B8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239" name="矩形: 圆角 238"/>
          <p:cNvSpPr/>
          <p:nvPr/>
        </p:nvSpPr>
        <p:spPr>
          <a:xfrm>
            <a:off x="8143875" y="1914525"/>
            <a:ext cx="3533775" cy="3133725"/>
          </a:xfrm>
          <a:prstGeom prst="roundRect">
            <a:avLst>
              <a:gd name="adj" fmla="val 364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0" name="任意多边形: 形状 239"/>
          <p:cNvSpPr/>
          <p:nvPr/>
        </p:nvSpPr>
        <p:spPr>
          <a:xfrm>
            <a:off x="8143875" y="1914525"/>
            <a:ext cx="3533775" cy="3133725"/>
          </a:xfrm>
          <a:custGeom>
            <a:avLst/>
            <a:gdLst/>
            <a:ahLst/>
            <a:cxnLst/>
            <a:rect l="0" t="0" r="0" b="0"/>
            <a:pathLst>
              <a:path w="371" h="329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323"/>
                </a:lnTo>
                <a:cubicBezTo>
                  <a:pt x="6" y="326"/>
                  <a:pt x="8" y="328"/>
                  <a:pt x="11" y="329"/>
                </a:cubicBezTo>
                <a:cubicBezTo>
                  <a:pt x="5" y="328"/>
                  <a:pt x="0" y="323"/>
                  <a:pt x="0" y="317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8410575" y="2181225"/>
            <a:ext cx="2943225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🏗️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8410575" y="2752725"/>
            <a:ext cx="29432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不是高可用集群</a:t>
            </a:r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8410575" y="3124200"/>
            <a:ext cx="29432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单实例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+ SQLite</a:t>
            </a:r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8410575" y="3495675"/>
            <a:ext cx="2943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94A3B8"/>
                </a:solidFill>
                <a:latin typeface="Microsoft YaHei"/>
                <a:ea typeface="Microsoft YaHei"/>
              </a:rPr>
              <a:t>定位是中小团队内网总闸，不是日均亿级平台</a:t>
            </a:r>
            <a:endParaRPr/>
          </a:p>
        </p:txBody>
      </p:sp>
      <p:sp>
        <p:nvSpPr>
          <p:cNvPr id="245" name="矩形: 圆角 244"/>
          <p:cNvSpPr/>
          <p:nvPr/>
        </p:nvSpPr>
        <p:spPr>
          <a:xfrm>
            <a:off x="571500" y="5353050"/>
            <a:ext cx="110490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571500" y="5353050"/>
            <a:ext cx="11049000" cy="933450"/>
          </a:xfrm>
          <a:prstGeom prst="rect">
            <a:avLst/>
          </a:prstGeom>
        </p:spPr>
        <p:txBody>
          <a:bodyPr wrap="none" lIns="142875" tIns="142875" rIns="142875" bIns="142875"/>
          <a:lstStyle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它是给</a:t>
            </a:r>
            <a:r>
              <a:rPr lang="en-US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想管好自己人怎么用</a:t>
            </a:r>
            <a:r>
              <a:rPr lang="en-US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 AI"</a:t>
            </a:r>
            <a:r>
              <a:rPr lang="zh-CN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的团队用的，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不是给</a:t>
            </a:r>
            <a:r>
              <a:rPr lang="en-US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想做</a:t>
            </a:r>
            <a:r>
              <a:rPr lang="en-US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 AI </a:t>
            </a:r>
            <a:r>
              <a:rPr lang="zh-CN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生意</a:t>
            </a:r>
            <a:r>
              <a:rPr lang="en-US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1F3A8A"/>
                </a:solidFill>
                <a:highlight>
                  <a:srgbClr val="F8FAFC"/>
                </a:highlight>
                <a:latin typeface="Microsoft YaHei"/>
                <a:ea typeface="Microsoft YaHei"/>
              </a:rPr>
              <a:t>的人用的。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&#10;    width: '100%',&#10;    height: '100%',&#10;    backgroundColor: '#1F3A8A',&#10;    padding: 60,&#10;    display: 'flex',&#10;    flexDirection: 'row',&#10;    gap: 40,&#10;  }}&gt;&#10;    &lt;Box style={{ flex: 1.2, display: 'flex', flexDirection: 'column', justifyContent: 'center' }}&gt;&#10;      &lt;Text style={{&#10;        fontSize: 14,&#10;        color: '#0EA5E9',&#10;        letterSpacing: 4,&#10;        marginBottom: 16,&#10;      }}&gt;&#10;        总结&#10;      &lt;/Text&gt;&#10;      &lt;Text style={{&#10;        fontSize: 56,&#10;        fontWeight: 'bold',&#10;        color: '#FFFFFF',&#10;        lineHeight: 1.2,&#10;        marginBottom: 24,&#10;      }}&gt;&#10;        把大模型变成&lt;br /&gt;公司的&quot;自来水&quot;&#10;      &lt;/Text&gt;&#10;      &lt;Text style={{&#10;        fontSize: 22,&#10;        color: '#CBD5E1',&#10;        lineHeight: 1.6,&#10;      }}&gt;&#10;        ——拧开就有，每户有表，坏了能关&#10;      &lt;/Text&gt;&#10;    &lt;/Box&gt;&#10;&#10;    &lt;Box style={{ flex: 1, display: 'flex', flexDirection: 'column', justifyContent: 'center' }}&gt;&#10;      &lt;Text style={{&#10;        fontSize: 18,&#10;        color: '#0EA5E9',&#10;        fontWeight: 'bold',&#10;        marginBottom: 16,&#10;      }}&gt;&#10;        下一步建议&#10;      &lt;/Text&gt;&#10;      &lt;Box style={{ display: 'flex', flexDirection: 'column', gap: 12 }}&gt;&#10;        {[&#10;          { label: '方案 A · 试点部门', desc: '推荐：选 1 个部门用 2 周，收集反馈' },&#10;          { label: '方案 B · 灰度上线', desc: '先发卡给研发部，逐步扩到全公司' },&#10;          { label: '方案 C · 加自动限流', desc: 'v1 跑稳后开发限流/限额能力' },&#10;        ].map((opt, i) =&gt; (&#10;          &lt;Box key={i} style={{&#10;            backgroundColor: 'rgba(14, 165, 233, 0.12)',&#10;            border: '1px solid #0EA5E9',&#10;            padding: 14,&#10;            borderRadius: 8,&#10;          }}&gt;&#10;            &lt;Text style={{ fontSize: 15, color: '#FFFFFF', fontWeight: 'bold' }}&gt;{opt.label}&lt;/Text&gt;&#10;            &lt;Text style={{ fontSize: 12, color: '#CBD5E1' }}&gt;{opt.desc}&lt;/Text&gt;&#10;          &lt;/Box&gt;&#10;        ))}&#10;      &lt;/Box&gt;&#10;&#10;      &lt;Text style={{&#10;        fontSize: 13,&#10;        color: '#0EA5E9',&#10;        marginTop: 24,&#10;        textAlign: 'right',&#10;      }}&gt;&#10;        github.com/boonya-hrgk/llm-proxy-tk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矩形 2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571500" y="2181225"/>
            <a:ext cx="5819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300">
                <a:solidFill>
                  <a:srgbClr val="0EA5E9"/>
                </a:solidFill>
                <a:latin typeface="Microsoft YaHei"/>
                <a:ea typeface="Microsoft YaHei"/>
              </a:rPr>
              <a:t>总结</a:t>
            </a:r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571500" y="2495550"/>
            <a:ext cx="5819775" cy="1543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把大模型变成</a:t>
            </a:r>
            <a:endParaRPr/>
          </a:p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公司的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自来水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571500" y="4267200"/>
            <a:ext cx="5819775" cy="409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——拧开就有，每户有表，坏了能关</a:t>
            </a:r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6772275" y="2076450"/>
            <a:ext cx="48482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A5E9"/>
                </a:solidFill>
                <a:latin typeface="Microsoft YaHei"/>
                <a:ea typeface="Microsoft YaHei"/>
              </a:rPr>
              <a:t>下一步建议</a:t>
            </a:r>
            <a:endParaRPr/>
          </a:p>
        </p:txBody>
      </p:sp>
      <p:sp>
        <p:nvSpPr>
          <p:cNvPr id="253" name="矩形: 圆角 252"/>
          <p:cNvSpPr/>
          <p:nvPr/>
        </p:nvSpPr>
        <p:spPr>
          <a:xfrm>
            <a:off x="6772275" y="2438400"/>
            <a:ext cx="4848225" cy="581025"/>
          </a:xfrm>
          <a:prstGeom prst="roundRect">
            <a:avLst>
              <a:gd name="adj" fmla="val 13115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6905625" y="2571750"/>
            <a:ext cx="45815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A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试点部门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905625" y="2743200"/>
            <a:ext cx="4581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推荐：选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1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个部门用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2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周，收集反馈</a:t>
            </a:r>
            <a:endParaRPr/>
          </a:p>
        </p:txBody>
      </p:sp>
      <p:sp>
        <p:nvSpPr>
          <p:cNvPr id="256" name="矩形: 圆角 255"/>
          <p:cNvSpPr/>
          <p:nvPr/>
        </p:nvSpPr>
        <p:spPr>
          <a:xfrm>
            <a:off x="6772275" y="3133725"/>
            <a:ext cx="4848225" cy="581025"/>
          </a:xfrm>
          <a:prstGeom prst="roundRect">
            <a:avLst>
              <a:gd name="adj" fmla="val 13115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905625" y="3267075"/>
            <a:ext cx="45815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B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灰度上线</a:t>
            </a:r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6905625" y="3438525"/>
            <a:ext cx="4581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先发卡给研发部，逐步扩到全公司</a:t>
            </a:r>
            <a:endParaRPr/>
          </a:p>
        </p:txBody>
      </p:sp>
      <p:sp>
        <p:nvSpPr>
          <p:cNvPr id="259" name="矩形: 圆角 258"/>
          <p:cNvSpPr/>
          <p:nvPr/>
        </p:nvSpPr>
        <p:spPr>
          <a:xfrm>
            <a:off x="6772275" y="3829050"/>
            <a:ext cx="4848225" cy="581025"/>
          </a:xfrm>
          <a:prstGeom prst="roundRect">
            <a:avLst>
              <a:gd name="adj" fmla="val 13115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905625" y="3962400"/>
            <a:ext cx="45815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C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加自动限流</a:t>
            </a:r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905625" y="4133850"/>
            <a:ext cx="4581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v1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跑稳后开发限流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限额能力</a:t>
            </a:r>
            <a:endParaRPr/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6772275" y="4638675"/>
            <a:ext cx="48482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0EA5E9"/>
                </a:solidFill>
                <a:latin typeface="Microsoft YaHei"/>
                <a:ea typeface="Microsoft YaHei"/>
              </a:rPr>
              <a:t>github.com/boonya-</a:t>
            </a:r>
            <a:r>
              <a:rPr lang="en-US" sz="975" dirty="0" err="1">
                <a:solidFill>
                  <a:srgbClr val="0EA5E9"/>
                </a:solidFill>
                <a:latin typeface="Microsoft YaHei"/>
                <a:ea typeface="Microsoft YaHei"/>
              </a:rPr>
              <a:t>hrgk</a:t>
            </a:r>
            <a:r>
              <a:rPr lang="en-US" sz="975" dirty="0">
                <a:solidFill>
                  <a:srgbClr val="0EA5E9"/>
                </a:solidFill>
                <a:latin typeface="Microsoft YaHei"/>
                <a:ea typeface="Microsoft YaHei"/>
              </a:rPr>
              <a:t>/</a:t>
            </a:r>
            <a:r>
              <a:rPr lang="en-US" sz="975" dirty="0" err="1">
                <a:solidFill>
                  <a:srgbClr val="0EA5E9"/>
                </a:solidFill>
                <a:latin typeface="Microsoft YaHei"/>
                <a:ea typeface="Microsoft YaHei"/>
              </a:rPr>
              <a:t>llm</a:t>
            </a:r>
            <a:r>
              <a:rPr lang="en-US" sz="975" dirty="0">
                <a:solidFill>
                  <a:srgbClr val="0EA5E9"/>
                </a:solidFill>
                <a:latin typeface="Microsoft YaHei"/>
                <a:ea typeface="Microsoft YaHei"/>
              </a:rPr>
              <a:t>-</a:t>
            </a:r>
            <a:r>
              <a:rPr lang="en-US" sz="975" dirty="0" err="1">
                <a:solidFill>
                  <a:srgbClr val="0EA5E9"/>
                </a:solidFill>
                <a:latin typeface="Microsoft YaHei"/>
                <a:ea typeface="Microsoft YaHei"/>
              </a:rPr>
              <a:t>api</a:t>
            </a:r>
            <a:r>
              <a:rPr lang="en-US" sz="975" dirty="0">
                <a:solidFill>
                  <a:srgbClr val="0EA5E9"/>
                </a:solidFill>
                <a:latin typeface="Microsoft YaHei"/>
                <a:ea typeface="Microsoft YaHei"/>
              </a:rPr>
              <a:t>-</a:t>
            </a:r>
            <a:r>
              <a:rPr lang="en-US" altLang="zh-CN" sz="975" dirty="0">
                <a:solidFill>
                  <a:srgbClr val="0EA5E9"/>
                </a:solidFill>
                <a:latin typeface="Microsoft YaHei"/>
                <a:ea typeface="Microsoft YaHei"/>
              </a:rPr>
              <a:t>gateway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1813</Words>
  <Application>Microsoft Office PowerPoint</Application>
  <PresentationFormat>宽屏</PresentationFormat>
  <Paragraphs>292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monospace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君临 彭</cp:lastModifiedBy>
  <cp:revision>17</cp:revision>
  <dcterms:created xsi:type="dcterms:W3CDTF">2026-09-04T09:21:08Z</dcterms:created>
  <dcterms:modified xsi:type="dcterms:W3CDTF">2026-09-04T07:17:14Z</dcterms:modified>
</cp:coreProperties>
</file>